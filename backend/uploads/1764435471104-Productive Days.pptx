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sldIdLst>
    <p:sldId id="256" r:id="rId3"/>
    <p:sldId id="257" r:id="rId4"/>
    <p:sldId id="259" r:id="rId5"/>
    <p:sldId id="260" r:id="rId6"/>
    <p:sldId id="269" r:id="rId7"/>
    <p:sldId id="270" r:id="rId8"/>
    <p:sldId id="271" r:id="rId9"/>
    <p:sldId id="285" r:id="rId10"/>
    <p:sldId id="273" r:id="rId11"/>
    <p:sldId id="274" r:id="rId12"/>
    <p:sldId id="275" r:id="rId13"/>
    <p:sldId id="276" r:id="rId14"/>
    <p:sldId id="277" r:id="rId15"/>
    <p:sldId id="278" r:id="rId16"/>
    <p:sldId id="279" r:id="rId17"/>
    <p:sldId id="280" r:id="rId18"/>
    <p:sldId id="281" r:id="rId19"/>
    <p:sldId id="282" r:id="rId20"/>
    <p:sldId id="266" r:id="rId21"/>
    <p:sldId id="283" r:id="rId22"/>
    <p:sldId id="284" r:id="rId23"/>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72" y="-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920" y="368280"/>
            <a:ext cx="7930800" cy="2430360"/>
          </a:xfrm>
          <a:prstGeom prst="rect">
            <a:avLst/>
          </a:prstGeom>
          <a:noFill/>
          <a:ln w="0">
            <a:noFill/>
          </a:ln>
        </p:spPr>
        <p:txBody>
          <a:bodyPr lIns="91440" tIns="91440" rIns="91440" bIns="91440" anchor="t">
            <a:noAutofit/>
          </a:bodyPr>
          <a:lstStyle/>
          <a:p>
            <a:pPr indent="0">
              <a:buNone/>
            </a:pPr>
            <a:r>
              <a:rPr lang="fr-FR" sz="7500" b="0" u="none" strike="noStrike">
                <a:solidFill>
                  <a:schemeClr val="dk1"/>
                </a:solidFill>
                <a:effectLst/>
                <a:uFillTx/>
                <a:latin typeface="Arial"/>
              </a:rPr>
              <a:t>Click to edit the title text format</a:t>
            </a:r>
          </a:p>
        </p:txBody>
      </p:sp>
      <p:pic>
        <p:nvPicPr>
          <p:cNvPr id="4" name="Google Shape;11;p2"/>
          <p:cNvPicPr/>
          <p:nvPr/>
        </p:nvPicPr>
        <p:blipFill>
          <a:blip r:embed="rId2">
            <a:alphaModFix amt="64000"/>
          </a:blip>
          <a:srcRect l="11021" r="13736" b="8153"/>
          <a:stretch/>
        </p:blipFill>
        <p:spPr>
          <a:xfrm>
            <a:off x="3834360" y="1266120"/>
            <a:ext cx="6625800" cy="5777280"/>
          </a:xfrm>
          <a:prstGeom prst="rect">
            <a:avLst/>
          </a:prstGeom>
          <a:noFill/>
          <a:ln w="0">
            <a:noFill/>
          </a:ln>
        </p:spPr>
      </p:pic>
      <p:sp>
        <p:nvSpPr>
          <p:cNvPr id="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4454280" cy="799200"/>
          </a:xfrm>
          <a:prstGeom prst="rect">
            <a:avLst/>
          </a:prstGeom>
          <a:noFill/>
          <a:ln w="0">
            <a:noFill/>
          </a:ln>
        </p:spPr>
        <p:txBody>
          <a:bodyPr lIns="91440" tIns="91440" rIns="91440" bIns="91440" anchor="b">
            <a:noAutofit/>
          </a:bodyPr>
          <a:lstStyle/>
          <a:p>
            <a:pPr indent="0">
              <a:lnSpc>
                <a:spcPct val="100000"/>
              </a:lnSpc>
              <a:buNone/>
            </a:pPr>
            <a:r>
              <a:rPr lang="fr-FR" sz="6000" b="0" u="none" strike="noStrike">
                <a:solidFill>
                  <a:schemeClr val="dk1"/>
                </a:solidFill>
                <a:effectLst/>
                <a:uFillTx/>
                <a:latin typeface="Viaoda Libre"/>
                <a:ea typeface="Viaoda Libre"/>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2576520" y="129276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5" name="PlaceHolder 2"/>
          <p:cNvSpPr>
            <a:spLocks noGrp="1"/>
          </p:cNvSpPr>
          <p:nvPr>
            <p:ph type="title"/>
          </p:nvPr>
        </p:nvSpPr>
        <p:spPr>
          <a:xfrm>
            <a:off x="2576520" y="218772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6" name="PlaceHolder 3"/>
          <p:cNvSpPr>
            <a:spLocks noGrp="1"/>
          </p:cNvSpPr>
          <p:nvPr>
            <p:ph type="title"/>
          </p:nvPr>
        </p:nvSpPr>
        <p:spPr>
          <a:xfrm>
            <a:off x="2576520" y="3082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7" name="PlaceHolder 4"/>
          <p:cNvSpPr>
            <a:spLocks noGrp="1"/>
          </p:cNvSpPr>
          <p:nvPr>
            <p:ph type="title"/>
          </p:nvPr>
        </p:nvSpPr>
        <p:spPr>
          <a:xfrm>
            <a:off x="2576520" y="3937680"/>
            <a:ext cx="677520" cy="403560"/>
          </a:xfrm>
          <a:prstGeom prst="rect">
            <a:avLst/>
          </a:prstGeom>
          <a:noFill/>
          <a:ln w="0">
            <a:noFill/>
          </a:ln>
        </p:spPr>
        <p:txBody>
          <a:bodyPr lIns="91440" tIns="91440" rIns="91440" bIns="91440" anchor="ctr">
            <a:noAutofit/>
          </a:bodyPr>
          <a:lstStyle/>
          <a:p>
            <a:pPr indent="0">
              <a:lnSpc>
                <a:spcPct val="100000"/>
              </a:lnSpc>
              <a:buNone/>
            </a:pPr>
            <a:r>
              <a:rPr lang="fr-FR" sz="3000" b="0" i="1" u="none" strike="noStrike">
                <a:solidFill>
                  <a:schemeClr val="dk1"/>
                </a:solidFill>
                <a:effectLst/>
                <a:uFillTx/>
                <a:latin typeface="Viaoda Libre"/>
                <a:ea typeface="Viaoda Libre"/>
              </a:rPr>
              <a:t>xx%</a:t>
            </a:r>
            <a:endParaRPr lang="fr-FR" sz="3000" b="0" u="none" strike="noStrike">
              <a:solidFill>
                <a:schemeClr val="dk1"/>
              </a:solidFill>
              <a:effectLst/>
              <a:uFillTx/>
              <a:latin typeface="Arial"/>
            </a:endParaRPr>
          </a:p>
        </p:txBody>
      </p:sp>
      <p:sp>
        <p:nvSpPr>
          <p:cNvPr id="8" name="PlaceHolder 5"/>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9" name="Google Shape;55;p13"/>
          <p:cNvPicPr/>
          <p:nvPr/>
        </p:nvPicPr>
        <p:blipFill>
          <a:blip r:embed="rId2">
            <a:alphaModFix amt="64000"/>
          </a:blip>
          <a:srcRect l="11021" r="13736" b="8153"/>
          <a:stretch/>
        </p:blipFill>
        <p:spPr>
          <a:xfrm rot="10523400">
            <a:off x="6530760" y="569520"/>
            <a:ext cx="6625800" cy="577728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3445560"/>
            <a:ext cx="8113320" cy="1274760"/>
          </a:xfrm>
          <a:prstGeom prst="rect">
            <a:avLst/>
          </a:prstGeom>
          <a:noFill/>
          <a:ln w="0">
            <a:noFill/>
          </a:ln>
        </p:spPr>
        <p:txBody>
          <a:bodyPr lIns="91440" tIns="91440" rIns="91440" bIns="91440" anchor="b">
            <a:noAutofit/>
          </a:bodyPr>
          <a:lstStyle/>
          <a:p>
            <a:pPr indent="0">
              <a:buNone/>
            </a:pPr>
            <a:r>
              <a:rPr lang="fr-FR" sz="3300" b="0" u="none" strike="noStrike">
                <a:solidFill>
                  <a:schemeClr val="dk1"/>
                </a:solidFill>
                <a:effectLst/>
                <a:uFillTx/>
                <a:latin typeface="Arial"/>
              </a:rPr>
              <a:t>Click to edit the title text format</a:t>
            </a:r>
          </a:p>
        </p:txBody>
      </p:sp>
      <p:pic>
        <p:nvPicPr>
          <p:cNvPr id="11" name="Google Shape;59;p14"/>
          <p:cNvPicPr/>
          <p:nvPr/>
        </p:nvPicPr>
        <p:blipFill>
          <a:blip r:embed="rId2">
            <a:alphaModFix amt="64000"/>
          </a:blip>
          <a:srcRect l="11021" r="13736" b="8153"/>
          <a:stretch/>
        </p:blipFill>
        <p:spPr>
          <a:xfrm rot="19518600">
            <a:off x="3620520" y="2570760"/>
            <a:ext cx="6625800" cy="5777280"/>
          </a:xfrm>
          <a:prstGeom prst="rect">
            <a:avLst/>
          </a:prstGeom>
          <a:noFill/>
          <a:ln w="0">
            <a:noFill/>
          </a:ln>
        </p:spPr>
      </p:pic>
      <p:sp>
        <p:nvSpPr>
          <p:cNvPr id="1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sp>
        <p:nvSpPr>
          <p:cNvPr id="13" name="PlaceHolder 1"/>
          <p:cNvSpPr>
            <a:spLocks noGrp="1"/>
          </p:cNvSpPr>
          <p:nvPr>
            <p:ph type="body"/>
          </p:nvPr>
        </p:nvSpPr>
        <p:spPr>
          <a:xfrm>
            <a:off x="845280" y="1199520"/>
            <a:ext cx="4619880" cy="209988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14"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15" name="Google Shape;63;p15"/>
          <p:cNvPicPr/>
          <p:nvPr/>
        </p:nvPicPr>
        <p:blipFill>
          <a:blip r:embed="rId2">
            <a:alphaModFix amt="64000"/>
          </a:blip>
          <a:srcRect l="11021" r="13736" b="8153"/>
          <a:stretch/>
        </p:blipFill>
        <p:spPr>
          <a:xfrm rot="3072000">
            <a:off x="-2614320" y="-1976760"/>
            <a:ext cx="4433400" cy="3866040"/>
          </a:xfrm>
          <a:prstGeom prst="rect">
            <a:avLst/>
          </a:prstGeom>
          <a:noFill/>
          <a:ln w="0">
            <a:noFill/>
          </a:ln>
        </p:spPr>
      </p:pic>
      <p:sp>
        <p:nvSpPr>
          <p:cNvPr id="16" name="PlaceHolder 3"/>
          <p:cNvSpPr>
            <a:spLocks noGrp="1"/>
          </p:cNvSpPr>
          <p:nvPr>
            <p:ph type="body"/>
          </p:nvPr>
        </p:nvSpPr>
        <p:spPr>
          <a:xfrm>
            <a:off x="5782680" y="1249560"/>
            <a:ext cx="3360960" cy="3893760"/>
          </a:xfrm>
          <a:prstGeom prst="rect">
            <a:avLst/>
          </a:prstGeom>
          <a:noFill/>
          <a:ln w="0">
            <a:noFill/>
          </a:ln>
        </p:spPr>
        <p:txBody>
          <a:bodyPr lIns="90000" tIns="45000" rIns="90000" bIns="45000" anchor="t">
            <a:normAutofit fontScale="850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chemeClr val="lt1"/>
        </a:solidFill>
        <a:effectLst/>
      </p:bgPr>
    </p:bg>
    <p:spTree>
      <p:nvGrpSpPr>
        <p:cNvPr id="1" name=""/>
        <p:cNvGrpSpPr/>
        <p:nvPr/>
      </p:nvGrpSpPr>
      <p:grpSpPr>
        <a:xfrm>
          <a:off x="0" y="0"/>
          <a:ext cx="0" cy="0"/>
          <a:chOff x="0" y="0"/>
          <a:chExt cx="0" cy="0"/>
        </a:xfrm>
      </p:grpSpPr>
      <p:pic>
        <p:nvPicPr>
          <p:cNvPr id="17" name="Google Shape;66;p16"/>
          <p:cNvPicPr/>
          <p:nvPr/>
        </p:nvPicPr>
        <p:blipFill>
          <a:blip r:embed="rId2">
            <a:alphaModFix amt="64000"/>
          </a:blip>
          <a:srcRect l="11021" r="13736" b="8153"/>
          <a:stretch/>
        </p:blipFill>
        <p:spPr>
          <a:xfrm rot="13175400">
            <a:off x="172080" y="-2061000"/>
            <a:ext cx="4599360" cy="4010400"/>
          </a:xfrm>
          <a:prstGeom prst="rect">
            <a:avLst/>
          </a:prstGeom>
          <a:noFill/>
          <a:ln w="0">
            <a:noFill/>
          </a:ln>
        </p:spPr>
      </p:pic>
      <p:sp>
        <p:nvSpPr>
          <p:cNvPr id="18"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chemeClr val="lt1"/>
        </a:solidFill>
        <a:effectLst/>
      </p:bgPr>
    </p:bg>
    <p:spTree>
      <p:nvGrpSpPr>
        <p:cNvPr id="1" name=""/>
        <p:cNvGrpSpPr/>
        <p:nvPr/>
      </p:nvGrpSpPr>
      <p:grpSpPr>
        <a:xfrm>
          <a:off x="0" y="0"/>
          <a:ext cx="0" cy="0"/>
          <a:chOff x="0" y="0"/>
          <a:chExt cx="0" cy="0"/>
        </a:xfrm>
      </p:grpSpPr>
      <p:pic>
        <p:nvPicPr>
          <p:cNvPr id="19" name="Google Shape;69;p17"/>
          <p:cNvPicPr/>
          <p:nvPr/>
        </p:nvPicPr>
        <p:blipFill>
          <a:blip r:embed="rId2">
            <a:alphaModFix amt="64000"/>
          </a:blip>
          <a:srcRect l="11021" r="13736" b="8153"/>
          <a:stretch/>
        </p:blipFill>
        <p:spPr>
          <a:xfrm rot="4050000">
            <a:off x="7011720" y="-2139120"/>
            <a:ext cx="6625800" cy="5777280"/>
          </a:xfrm>
          <a:prstGeom prst="rect">
            <a:avLst/>
          </a:prstGeom>
          <a:noFill/>
          <a:ln w="0">
            <a:noFill/>
          </a:ln>
        </p:spPr>
      </p:pic>
      <p:sp>
        <p:nvSpPr>
          <p:cNvPr id="20"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chemeClr val="lt1"/>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860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2" name="Google Shape;79;p18"/>
          <p:cNvPicPr/>
          <p:nvPr/>
        </p:nvPicPr>
        <p:blipFill>
          <a:blip r:embed="rId2">
            <a:alphaModFix amt="64000"/>
          </a:blip>
          <a:srcRect l="11021" r="13736" b="8153"/>
          <a:stretch/>
        </p:blipFill>
        <p:spPr>
          <a:xfrm rot="4361400">
            <a:off x="5070240" y="2708640"/>
            <a:ext cx="6625800" cy="577728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12400"/>
            <a:ext cx="817128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24" name="Google Shape;94;p19"/>
          <p:cNvPicPr/>
          <p:nvPr/>
        </p:nvPicPr>
        <p:blipFill>
          <a:blip r:embed="rId2">
            <a:alphaModFix amt="64000"/>
          </a:blip>
          <a:srcRect l="11021" r="13736" b="8153"/>
          <a:stretch/>
        </p:blipFill>
        <p:spPr>
          <a:xfrm rot="11382600">
            <a:off x="5733360" y="-2468880"/>
            <a:ext cx="6625800" cy="577728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457560" y="535680"/>
            <a:ext cx="3417840" cy="754200"/>
          </a:xfrm>
          <a:prstGeom prst="rect">
            <a:avLst/>
          </a:prstGeom>
          <a:noFill/>
          <a:ln w="0">
            <a:noFill/>
          </a:ln>
        </p:spPr>
        <p:txBody>
          <a:bodyPr lIns="91440" tIns="91440" rIns="91440" bIns="91440" anchor="b">
            <a:noAutofit/>
          </a:bodyPr>
          <a:lstStyle/>
          <a:p>
            <a:pPr indent="0">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sp>
        <p:nvSpPr>
          <p:cNvPr id="26" name="PlaceHolder 2"/>
          <p:cNvSpPr>
            <a:spLocks noGrp="1"/>
          </p:cNvSpPr>
          <p:nvPr>
            <p:ph type="title"/>
          </p:nvPr>
        </p:nvSpPr>
        <p:spPr>
          <a:xfrm>
            <a:off x="5268600" y="3691080"/>
            <a:ext cx="3417840" cy="754200"/>
          </a:xfrm>
          <a:prstGeom prst="rect">
            <a:avLst/>
          </a:prstGeom>
          <a:noFill/>
          <a:ln w="0">
            <a:noFill/>
          </a:ln>
        </p:spPr>
        <p:txBody>
          <a:bodyPr lIns="91440" tIns="91440" rIns="91440" bIns="91440" anchor="b">
            <a:noAutofit/>
          </a:bodyPr>
          <a:lstStyle/>
          <a:p>
            <a:pPr indent="0" algn="r">
              <a:lnSpc>
                <a:spcPct val="100000"/>
              </a:lnSpc>
              <a:buNone/>
            </a:pPr>
            <a:r>
              <a:rPr lang="fr-FR" sz="4300" b="0" i="1" u="none" strike="noStrike">
                <a:solidFill>
                  <a:schemeClr val="dk1"/>
                </a:solidFill>
                <a:effectLst/>
                <a:uFillTx/>
                <a:latin typeface="Viaoda Libre"/>
                <a:ea typeface="Viaoda Libre"/>
              </a:rPr>
              <a:t>xx%</a:t>
            </a:r>
            <a:endParaRPr lang="fr-FR" sz="4300" b="0" u="none" strike="noStrike">
              <a:solidFill>
                <a:schemeClr val="dk1"/>
              </a:solidFill>
              <a:effectLst/>
              <a:uFillTx/>
              <a:latin typeface="Arial"/>
            </a:endParaRPr>
          </a:p>
        </p:txBody>
      </p:sp>
      <p:pic>
        <p:nvPicPr>
          <p:cNvPr id="27" name="Google Shape;100;p20"/>
          <p:cNvPicPr/>
          <p:nvPr/>
        </p:nvPicPr>
        <p:blipFill>
          <a:blip r:embed="rId2">
            <a:alphaModFix amt="64000"/>
          </a:blip>
          <a:srcRect l="11021" r="13736" b="8153"/>
          <a:stretch/>
        </p:blipFill>
        <p:spPr>
          <a:xfrm rot="20224800">
            <a:off x="-2000520" y="1667880"/>
            <a:ext cx="6625800" cy="577728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2478960" y="1791000"/>
            <a:ext cx="6207840" cy="2911680"/>
          </a:xfrm>
          <a:prstGeom prst="rect">
            <a:avLst/>
          </a:prstGeom>
          <a:noFill/>
          <a:ln w="0">
            <a:noFill/>
          </a:ln>
        </p:spPr>
        <p:txBody>
          <a:bodyPr lIns="91440" tIns="91440" rIns="91440" bIns="91440" anchor="b">
            <a:noAutofit/>
          </a:bodyPr>
          <a:lstStyle/>
          <a:p>
            <a:pPr indent="0">
              <a:buNone/>
            </a:pPr>
            <a:r>
              <a:rPr lang="fr-FR" sz="4800" b="0" u="none" strike="noStrike">
                <a:solidFill>
                  <a:schemeClr val="dk1"/>
                </a:solidFill>
                <a:effectLst/>
                <a:uFillTx/>
                <a:latin typeface="Arial"/>
              </a:rPr>
              <a:t>Click to edit the title text format</a:t>
            </a:r>
          </a:p>
        </p:txBody>
      </p:sp>
      <p:sp>
        <p:nvSpPr>
          <p:cNvPr id="29" name="PlaceHolder 2"/>
          <p:cNvSpPr>
            <a:spLocks noGrp="1"/>
          </p:cNvSpPr>
          <p:nvPr>
            <p:ph type="title"/>
          </p:nvPr>
        </p:nvSpPr>
        <p:spPr>
          <a:xfrm>
            <a:off x="457200" y="440280"/>
            <a:ext cx="1294920" cy="762840"/>
          </a:xfrm>
          <a:prstGeom prst="rect">
            <a:avLst/>
          </a:prstGeom>
          <a:noFill/>
          <a:ln w="0">
            <a:noFill/>
          </a:ln>
        </p:spPr>
        <p:txBody>
          <a:bodyPr lIns="91440" tIns="91440" rIns="91440" bIns="91440" anchor="ctr">
            <a:noAutofit/>
          </a:bodyPr>
          <a:lstStyle/>
          <a:p>
            <a:pPr indent="0">
              <a:lnSpc>
                <a:spcPct val="100000"/>
              </a:lnSpc>
              <a:buNone/>
            </a:pPr>
            <a:r>
              <a:rPr lang="fr-FR" sz="6500" b="0" i="1" u="none" strike="noStrike">
                <a:solidFill>
                  <a:schemeClr val="dk1"/>
                </a:solidFill>
                <a:effectLst/>
                <a:uFillTx/>
                <a:latin typeface="Viaoda Libre"/>
                <a:ea typeface="Viaoda Libre"/>
              </a:rPr>
              <a:t>xx%</a:t>
            </a:r>
            <a:endParaRPr lang="fr-FR" sz="6500" b="0" u="none" strike="noStrike">
              <a:solidFill>
                <a:schemeClr val="dk1"/>
              </a:solidFill>
              <a:effectLst/>
              <a:uFillTx/>
              <a:latin typeface="Arial"/>
            </a:endParaRPr>
          </a:p>
        </p:txBody>
      </p:sp>
      <p:pic>
        <p:nvPicPr>
          <p:cNvPr id="30" name="Google Shape;15;p3"/>
          <p:cNvPicPr/>
          <p:nvPr/>
        </p:nvPicPr>
        <p:blipFill>
          <a:blip r:embed="rId2">
            <a:alphaModFix amt="64000"/>
          </a:blip>
          <a:srcRect l="11021" r="13736" b="8153"/>
          <a:stretch/>
        </p:blipFill>
        <p:spPr>
          <a:xfrm rot="8601600">
            <a:off x="2378880" y="-4229280"/>
            <a:ext cx="8775720" cy="7652160"/>
          </a:xfrm>
          <a:prstGeom prst="rect">
            <a:avLst/>
          </a:prstGeom>
          <a:noFill/>
          <a:ln w="0">
            <a:noFill/>
          </a:ln>
        </p:spPr>
      </p:pic>
      <p:sp>
        <p:nvSpPr>
          <p:cNvPr id="31"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242880" y="456480"/>
            <a:ext cx="5443200" cy="1035720"/>
          </a:xfrm>
          <a:prstGeom prst="rect">
            <a:avLst/>
          </a:prstGeom>
          <a:noFill/>
          <a:ln w="0">
            <a:noFill/>
          </a:ln>
        </p:spPr>
        <p:txBody>
          <a:bodyPr lIns="91440" tIns="91440" rIns="91440" bIns="91440" anchor="b">
            <a:noAutofit/>
          </a:bodyPr>
          <a:lstStyle/>
          <a:p>
            <a:pPr indent="0">
              <a:buNone/>
            </a:pPr>
            <a:r>
              <a:rPr lang="fr-FR" sz="7400" b="0" u="none" strike="noStrike">
                <a:solidFill>
                  <a:schemeClr val="dk1"/>
                </a:solidFill>
                <a:effectLst/>
                <a:uFillTx/>
                <a:latin typeface="Arial"/>
              </a:rPr>
              <a:t>Click to edit the title text format</a:t>
            </a:r>
          </a:p>
        </p:txBody>
      </p:sp>
      <p:sp>
        <p:nvSpPr>
          <p:cNvPr id="33" name="Google Shape;104;p21"/>
          <p:cNvSpPr/>
          <p:nvPr/>
        </p:nvSpPr>
        <p:spPr>
          <a:xfrm>
            <a:off x="457200" y="3846960"/>
            <a:ext cx="5757120" cy="55512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dk1"/>
                </a:solidFill>
                <a:effectLst/>
                <a:uFillTx/>
                <a:latin typeface="Albert Sans"/>
                <a:ea typeface="Albert Sans"/>
                <a:hlinkClick r:id="rId2"/>
              </a:rPr>
              <a:t>Slidesgo</a:t>
            </a:r>
            <a:r>
              <a:rPr lang="en" sz="1200" b="0" u="none" strike="noStrike">
                <a:solidFill>
                  <a:schemeClr val="dk1"/>
                </a:solidFill>
                <a:effectLst/>
                <a:uFillTx/>
                <a:latin typeface="Albert Sans"/>
                <a:ea typeface="Albert Sans"/>
              </a:rPr>
              <a:t>, and includes icons, infographics &amp; images by </a:t>
            </a:r>
            <a:r>
              <a:rPr lang="en" sz="1200" b="1" u="sng" strike="noStrike">
                <a:solidFill>
                  <a:schemeClr val="dk1"/>
                </a:solidFill>
                <a:effectLst/>
                <a:uFillTx/>
                <a:latin typeface="Albert Sans"/>
                <a:ea typeface="Albert Sans"/>
                <a:hlinkClick r:id="rId3"/>
              </a:rPr>
              <a:t>Freepik</a:t>
            </a:r>
            <a:r>
              <a:rPr lang="en" sz="1200" b="1" u="none" strike="noStrike">
                <a:solidFill>
                  <a:schemeClr val="dk1"/>
                </a:solidFill>
                <a:effectLst/>
                <a:uFillTx/>
                <a:latin typeface="Albert Sans"/>
                <a:ea typeface="Albert Sans"/>
              </a:rPr>
              <a:t> </a:t>
            </a:r>
            <a:endParaRPr lang="en-US" sz="1200" b="0" u="none" strike="noStrike">
              <a:solidFill>
                <a:srgbClr val="000000"/>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34" name="PlaceHolder 1"/>
          <p:cNvSpPr>
            <a:spLocks noGrp="1"/>
          </p:cNvSpPr>
          <p:nvPr>
            <p:ph type="body"/>
          </p:nvPr>
        </p:nvSpPr>
        <p:spPr>
          <a:xfrm>
            <a:off x="457200" y="1221480"/>
            <a:ext cx="8233560" cy="13014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sp>
        <p:nvSpPr>
          <p:cNvPr id="35"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12400"/>
            <a:ext cx="822924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pic>
        <p:nvPicPr>
          <p:cNvPr id="37" name="Google Shape;25;p5"/>
          <p:cNvPicPr/>
          <p:nvPr/>
        </p:nvPicPr>
        <p:blipFill>
          <a:blip r:embed="rId2">
            <a:alphaModFix amt="64000"/>
          </a:blip>
          <a:srcRect l="11021" r="13736" b="8153"/>
          <a:stretch/>
        </p:blipFill>
        <p:spPr>
          <a:xfrm rot="2200200">
            <a:off x="-3751920" y="-381240"/>
            <a:ext cx="6625800" cy="577728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38" name="Google Shape;27;p6"/>
          <p:cNvPicPr/>
          <p:nvPr/>
        </p:nvPicPr>
        <p:blipFill>
          <a:blip r:embed="rId2">
            <a:alphaModFix amt="64000"/>
          </a:blip>
          <a:srcRect l="11021" r="13736" b="8153"/>
          <a:stretch/>
        </p:blipFill>
        <p:spPr>
          <a:xfrm rot="15790200">
            <a:off x="-1680840" y="-1717200"/>
            <a:ext cx="4467240" cy="3895200"/>
          </a:xfrm>
          <a:prstGeom prst="rect">
            <a:avLst/>
          </a:prstGeom>
          <a:noFill/>
          <a:ln w="0">
            <a:noFill/>
          </a:ln>
        </p:spPr>
      </p:pic>
      <p:sp>
        <p:nvSpPr>
          <p:cNvPr id="39"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40" name="PlaceHolder 1"/>
          <p:cNvSpPr>
            <a:spLocks noGrp="1"/>
          </p:cNvSpPr>
          <p:nvPr>
            <p:ph type="body"/>
          </p:nvPr>
        </p:nvSpPr>
        <p:spPr>
          <a:xfrm>
            <a:off x="4053600" y="1704960"/>
            <a:ext cx="4512600" cy="28364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400" b="0" u="none" strike="noStrike">
                <a:solidFill>
                  <a:srgbClr val="000000"/>
                </a:solidFill>
                <a:effectLst/>
                <a:uFillTx/>
                <a:latin typeface="Arial"/>
              </a:rPr>
              <a:t>Seventh Outline Level</a:t>
            </a:r>
          </a:p>
        </p:txBody>
      </p:sp>
      <p:sp>
        <p:nvSpPr>
          <p:cNvPr id="41" name="PlaceHolder 2"/>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43" name="PlaceHolder 1"/>
          <p:cNvSpPr>
            <a:spLocks noGrp="1"/>
          </p:cNvSpPr>
          <p:nvPr>
            <p:ph type="title"/>
          </p:nvPr>
        </p:nvSpPr>
        <p:spPr>
          <a:xfrm>
            <a:off x="515160" y="212400"/>
            <a:ext cx="8113320" cy="644400"/>
          </a:xfrm>
          <a:prstGeom prst="rect">
            <a:avLst/>
          </a:prstGeom>
          <a:noFill/>
          <a:ln w="0">
            <a:noFill/>
          </a:ln>
        </p:spPr>
        <p:txBody>
          <a:bodyPr lIns="91440" tIns="91440" rIns="91440" bIns="91440" anchor="t">
            <a:noAutofit/>
          </a:bodyPr>
          <a:lstStyle/>
          <a:p>
            <a:pPr indent="0">
              <a:buNone/>
            </a:pPr>
            <a:r>
              <a:rPr lang="fr-FR" sz="33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44"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Seventh Outline Level</a:t>
            </a:r>
          </a:p>
        </p:txBody>
      </p:sp>
      <p:sp>
        <p:nvSpPr>
          <p:cNvPr id="45" name="PlaceHolder 2"/>
          <p:cNvSpPr>
            <a:spLocks noGrp="1"/>
          </p:cNvSpPr>
          <p:nvPr>
            <p:ph type="title"/>
          </p:nvPr>
        </p:nvSpPr>
        <p:spPr>
          <a:xfrm>
            <a:off x="469080" y="370800"/>
            <a:ext cx="2841480" cy="733680"/>
          </a:xfrm>
          <a:prstGeom prst="rect">
            <a:avLst/>
          </a:prstGeom>
          <a:solidFill>
            <a:schemeClr val="lt1"/>
          </a:solidFill>
          <a:ln w="0">
            <a:noFill/>
          </a:ln>
        </p:spPr>
        <p:txBody>
          <a:bodyPr lIns="91440" tIns="91440" rIns="91440" bIns="91440" anchor="t">
            <a:noAutofit/>
          </a:bodyPr>
          <a:lstStyle/>
          <a:p>
            <a:pPr indent="0">
              <a:buNone/>
            </a:pPr>
            <a:r>
              <a:rPr lang="fr-FR" sz="19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46" name="Google Shape;112;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7"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48" name="Google Shape;115;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50"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2"/>
          <p:cNvSpPr>
            <a:spLocks noGrp="1"/>
          </p:cNvSpPr>
          <p:nvPr>
            <p:ph type="title"/>
          </p:nvPr>
        </p:nvSpPr>
        <p:spPr>
          <a:xfrm>
            <a:off x="334311" y="1932496"/>
            <a:ext cx="8328921" cy="1470580"/>
          </a:xfrm>
          <a:prstGeom prst="rect">
            <a:avLst/>
          </a:prstGeom>
          <a:noFill/>
          <a:ln w="0">
            <a:noFill/>
          </a:ln>
        </p:spPr>
        <p:txBody>
          <a:bodyPr lIns="91440" tIns="91440" rIns="91440" bIns="91440" anchor="t">
            <a:normAutofit/>
          </a:bodyPr>
          <a:lstStyle/>
          <a:p>
            <a:pPr>
              <a:lnSpc>
                <a:spcPct val="100000"/>
              </a:lnSpc>
              <a:tabLst>
                <a:tab pos="0" algn="l"/>
              </a:tabLst>
            </a:pPr>
            <a:r>
              <a:rPr lang="en-GB" sz="6500" b="1" dirty="0">
                <a:solidFill>
                  <a:schemeClr val="dk1"/>
                </a:solidFill>
                <a:latin typeface="Albert Sans"/>
                <a:ea typeface="Albert Sans"/>
              </a:rPr>
              <a:t>Staphylococcus aureus</a:t>
            </a:r>
            <a:endParaRPr lang="fr-FR" sz="6500" b="1" u="none" strike="noStrike" dirty="0">
              <a:solidFill>
                <a:schemeClr val="dk1"/>
              </a:solidFill>
              <a:effectLst/>
              <a:uFillTx/>
              <a:latin typeface="Arial"/>
            </a:endParaRPr>
          </a:p>
        </p:txBody>
      </p:sp>
      <p:pic>
        <p:nvPicPr>
          <p:cNvPr id="4" name="Picture 3">
            <a:extLst>
              <a:ext uri="{FF2B5EF4-FFF2-40B4-BE49-F238E27FC236}">
                <a16:creationId xmlns:a16="http://schemas.microsoft.com/office/drawing/2014/main" id="{3BCF6B99-9131-A927-677A-7322717D7E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721150" y="233539"/>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700" b="1" u="none" strike="noStrike" dirty="0">
                <a:solidFill>
                  <a:schemeClr val="dk1"/>
                </a:solidFill>
                <a:effectLst/>
                <a:uFillTx/>
                <a:latin typeface="Viaoda Libre"/>
                <a:ea typeface="Viaoda Libre"/>
              </a:rPr>
              <a:t>Introduction</a:t>
            </a:r>
            <a:endParaRPr lang="fr-FR" sz="3700" b="1" u="none" strike="noStrike" dirty="0">
              <a:solidFill>
                <a:schemeClr val="dk1"/>
              </a:solidFill>
              <a:effectLst/>
              <a:uFillTx/>
              <a:latin typeface="Arial"/>
            </a:endParaRPr>
          </a:p>
        </p:txBody>
      </p:sp>
      <p:sp>
        <p:nvSpPr>
          <p:cNvPr id="54" name="PlaceHolder 2"/>
          <p:cNvSpPr>
            <a:spLocks noGrp="1"/>
          </p:cNvSpPr>
          <p:nvPr>
            <p:ph type="subTitle"/>
          </p:nvPr>
        </p:nvSpPr>
        <p:spPr>
          <a:xfrm>
            <a:off x="603315" y="1649692"/>
            <a:ext cx="8022211" cy="2856320"/>
          </a:xfrm>
          <a:prstGeom prst="rect">
            <a:avLst/>
          </a:prstGeom>
          <a:noFill/>
          <a:ln w="0">
            <a:noFill/>
          </a:ln>
        </p:spPr>
        <p:txBody>
          <a:bodyPr lIns="91440" tIns="91440" rIns="91440" bIns="91440" anchor="t">
            <a:noAutofit/>
          </a:bodyPr>
          <a:lstStyle/>
          <a:p>
            <a:pPr algn="just">
              <a:lnSpc>
                <a:spcPct val="150000"/>
              </a:lnSpc>
              <a:tabLst>
                <a:tab pos="0" algn="l"/>
              </a:tabLst>
            </a:pPr>
            <a:r>
              <a:rPr lang="en-GB" sz="2000" b="0" u="none" strike="noStrike" dirty="0">
                <a:solidFill>
                  <a:schemeClr val="dk1"/>
                </a:solidFill>
                <a:effectLst/>
                <a:uFillTx/>
                <a:latin typeface="Albert Sans"/>
                <a:ea typeface="Albert Sans"/>
              </a:rPr>
              <a:t> Staphylococcus aureus is  gram positive cocci that resides on the skin and mucus </a:t>
            </a:r>
            <a:r>
              <a:rPr lang="en-GB" sz="2000" b="0" u="none" strike="noStrike" dirty="0" err="1">
                <a:solidFill>
                  <a:schemeClr val="dk1"/>
                </a:solidFill>
                <a:effectLst/>
                <a:uFillTx/>
                <a:latin typeface="Albert Sans"/>
                <a:ea typeface="Albert Sans"/>
              </a:rPr>
              <a:t>membranebut</a:t>
            </a:r>
            <a:r>
              <a:rPr lang="en-GB" sz="2000" b="0" u="none" strike="noStrike" dirty="0">
                <a:solidFill>
                  <a:schemeClr val="dk1"/>
                </a:solidFill>
                <a:effectLst/>
                <a:uFillTx/>
                <a:latin typeface="Albert Sans"/>
                <a:ea typeface="Albert Sans"/>
              </a:rPr>
              <a:t> can cause  a wide -</a:t>
            </a:r>
            <a:r>
              <a:rPr lang="en-GB" sz="2000" b="0" u="none" strike="noStrike" dirty="0" err="1">
                <a:solidFill>
                  <a:schemeClr val="dk1"/>
                </a:solidFill>
                <a:effectLst/>
                <a:uFillTx/>
                <a:latin typeface="Albert Sans"/>
                <a:ea typeface="Albert Sans"/>
              </a:rPr>
              <a:t>wange</a:t>
            </a:r>
            <a:r>
              <a:rPr lang="en-GB" sz="2000" b="0" u="none" strike="noStrike" dirty="0">
                <a:solidFill>
                  <a:schemeClr val="dk1"/>
                </a:solidFill>
                <a:effectLst/>
                <a:uFillTx/>
                <a:latin typeface="Albert Sans"/>
                <a:ea typeface="Albert Sans"/>
              </a:rPr>
              <a:t> of infections to severe systematic disease. It produce various toxins, including those responsible for staphylococcal scalded skin syndrome (</a:t>
            </a:r>
            <a:r>
              <a:rPr lang="en-GB" sz="2000" b="0" u="none" strike="noStrike" dirty="0" err="1">
                <a:solidFill>
                  <a:schemeClr val="dk1"/>
                </a:solidFill>
                <a:effectLst/>
                <a:uFillTx/>
                <a:latin typeface="Albert Sans"/>
                <a:ea typeface="Albert Sans"/>
              </a:rPr>
              <a:t>ssss</a:t>
            </a:r>
            <a:r>
              <a:rPr lang="en-GB" sz="2000" b="0" u="none" strike="noStrike" dirty="0">
                <a:solidFill>
                  <a:schemeClr val="dk1"/>
                </a:solidFill>
                <a:effectLst/>
                <a:uFillTx/>
                <a:latin typeface="Albert Sans"/>
                <a:ea typeface="Albert Sans"/>
              </a:rPr>
              <a:t>),  which may appear in both menstrual &amp; non- menstrual Cases. Due to its high resistance ability (</a:t>
            </a:r>
            <a:r>
              <a:rPr lang="en-GB" sz="2000" b="0" u="none" strike="noStrike" dirty="0" err="1">
                <a:solidFill>
                  <a:schemeClr val="dk1"/>
                </a:solidFill>
                <a:effectLst/>
                <a:uFillTx/>
                <a:latin typeface="Albert Sans"/>
                <a:ea typeface="Albert Sans"/>
              </a:rPr>
              <a:t>eg</a:t>
            </a:r>
            <a:r>
              <a:rPr lang="en-GB" sz="2000" b="0" u="none" strike="noStrike" dirty="0">
                <a:solidFill>
                  <a:schemeClr val="dk1"/>
                </a:solidFill>
                <a:effectLst/>
                <a:uFillTx/>
                <a:latin typeface="Albert Sans"/>
                <a:ea typeface="Albert Sans"/>
              </a:rPr>
              <a:t> - MRSA), correct diagnosis and timely treatment are very important.</a:t>
            </a:r>
            <a:endParaRPr lang="en-US" sz="20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C57B7D03-1594-9EF1-D230-B473537F36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PlaceHolder 1"/>
          <p:cNvSpPr>
            <a:spLocks noGrp="1"/>
          </p:cNvSpPr>
          <p:nvPr>
            <p:ph type="title"/>
          </p:nvPr>
        </p:nvSpPr>
        <p:spPr>
          <a:xfrm>
            <a:off x="778391" y="233540"/>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fr-FR" sz="3700" b="1" u="none" strike="noStrike" dirty="0" err="1">
                <a:solidFill>
                  <a:schemeClr val="dk1"/>
                </a:solidFill>
                <a:effectLst/>
                <a:uFillTx/>
                <a:latin typeface="Arial"/>
              </a:rPr>
              <a:t>Definition</a:t>
            </a:r>
            <a:endParaRPr lang="fr-FR" sz="3700" b="1" u="none" strike="noStrike" dirty="0">
              <a:solidFill>
                <a:schemeClr val="dk1"/>
              </a:solidFill>
              <a:effectLst/>
              <a:uFillTx/>
              <a:latin typeface="Arial"/>
            </a:endParaRPr>
          </a:p>
        </p:txBody>
      </p:sp>
      <p:sp>
        <p:nvSpPr>
          <p:cNvPr id="58" name="PlaceHolder 2"/>
          <p:cNvSpPr>
            <a:spLocks noGrp="1"/>
          </p:cNvSpPr>
          <p:nvPr>
            <p:ph type="subTitle"/>
          </p:nvPr>
        </p:nvSpPr>
        <p:spPr>
          <a:xfrm>
            <a:off x="778391" y="1983051"/>
            <a:ext cx="7295760" cy="1885680"/>
          </a:xfrm>
          <a:prstGeom prst="rect">
            <a:avLst/>
          </a:prstGeom>
          <a:noFill/>
          <a:ln w="0">
            <a:noFill/>
          </a:ln>
        </p:spPr>
        <p:txBody>
          <a:bodyPr lIns="91440" tIns="91440" rIns="91440" bIns="91440" anchor="t">
            <a:normAutofit/>
          </a:bodyPr>
          <a:lstStyle/>
          <a:p>
            <a:pPr algn="just">
              <a:lnSpc>
                <a:spcPct val="150000"/>
              </a:lnSpc>
              <a:tabLst>
                <a:tab pos="0" algn="l"/>
              </a:tabLst>
            </a:pPr>
            <a:r>
              <a:rPr lang="en-GB" sz="2000" b="0" u="none" strike="noStrike" dirty="0">
                <a:solidFill>
                  <a:schemeClr val="dk1"/>
                </a:solidFill>
                <a:effectLst/>
                <a:uFillTx/>
                <a:latin typeface="Albert Sans"/>
                <a:ea typeface="Albert Sans"/>
              </a:rPr>
              <a:t>It is a bacterial infection caused by staphylococcus aureus , a gram positive cocci that appears in clusters.</a:t>
            </a:r>
            <a:endParaRPr lang="en-US" sz="20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94F125FC-0A0B-C9BC-9D19-44871A1EB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3929" y="-229465"/>
            <a:ext cx="7536050" cy="1275840"/>
          </a:xfrm>
          <a:prstGeom prst="rect">
            <a:avLst/>
          </a:prstGeom>
          <a:noFill/>
          <a:ln w="0">
            <a:noFill/>
          </a:ln>
        </p:spPr>
        <p:txBody>
          <a:bodyPr lIns="91440" tIns="91440" rIns="91440" bIns="91440" anchor="b">
            <a:normAutofit/>
          </a:bodyPr>
          <a:lstStyle/>
          <a:p>
            <a:pPr>
              <a:lnSpc>
                <a:spcPct val="100000"/>
              </a:lnSpc>
              <a:tabLst>
                <a:tab pos="0" algn="l"/>
              </a:tabLst>
            </a:pPr>
            <a:r>
              <a:rPr lang="en-US" sz="3400" b="1" u="none" strike="noStrike" dirty="0">
                <a:solidFill>
                  <a:schemeClr val="dk1"/>
                </a:solidFill>
                <a:effectLst/>
                <a:uFillTx/>
                <a:latin typeface="Viaoda Libre"/>
                <a:ea typeface="Viaoda Libre"/>
              </a:rPr>
              <a:t>Clinical Symptoms of S. aureus Infection:</a:t>
            </a:r>
            <a:endParaRPr lang="fr-FR" sz="3400" b="1" u="none" strike="noStrike" dirty="0">
              <a:solidFill>
                <a:schemeClr val="dk1"/>
              </a:solidFill>
              <a:effectLst/>
              <a:uFillTx/>
              <a:latin typeface="Arial"/>
            </a:endParaRPr>
          </a:p>
        </p:txBody>
      </p:sp>
      <p:sp>
        <p:nvSpPr>
          <p:cNvPr id="60" name="PlaceHolder 2"/>
          <p:cNvSpPr>
            <a:spLocks noGrp="1"/>
          </p:cNvSpPr>
          <p:nvPr>
            <p:ph type="subTitle"/>
          </p:nvPr>
        </p:nvSpPr>
        <p:spPr>
          <a:xfrm>
            <a:off x="193929" y="1089974"/>
            <a:ext cx="8375036" cy="3685880"/>
          </a:xfrm>
          <a:prstGeom prst="rect">
            <a:avLst/>
          </a:prstGeom>
          <a:noFill/>
          <a:ln w="0">
            <a:noFill/>
          </a:ln>
        </p:spPr>
        <p:txBody>
          <a:bodyPr lIns="91440" tIns="91440" rIns="91440" bIns="91440" anchor="t">
            <a:noAutofit/>
          </a:bodyPr>
          <a:lstStyle/>
          <a:p>
            <a:pPr>
              <a:lnSpc>
                <a:spcPct val="150000"/>
              </a:lnSpc>
              <a:tabLst>
                <a:tab pos="0" algn="l"/>
              </a:tabLst>
            </a:pPr>
            <a:endParaRPr lang="en-US" sz="1800" b="1" dirty="0">
              <a:solidFill>
                <a:schemeClr val="dk1"/>
              </a:solidFill>
              <a:latin typeface="Albert Sans"/>
              <a:ea typeface="Albert Sans"/>
            </a:endParaRPr>
          </a:p>
          <a:p>
            <a:pPr>
              <a:lnSpc>
                <a:spcPct val="150000"/>
              </a:lnSpc>
              <a:tabLst>
                <a:tab pos="0" algn="l"/>
              </a:tabLst>
            </a:pPr>
            <a:r>
              <a:rPr lang="en-US" sz="1800" b="1" strike="noStrike" dirty="0">
                <a:solidFill>
                  <a:schemeClr val="dk1"/>
                </a:solidFill>
                <a:effectLst/>
                <a:uFillTx/>
                <a:latin typeface="Albert Sans"/>
                <a:ea typeface="Albert Sans"/>
              </a:rPr>
              <a:t>1. </a:t>
            </a:r>
            <a:r>
              <a:rPr lang="en-US" sz="1800" b="1" u="sng" strike="noStrike" dirty="0">
                <a:solidFill>
                  <a:schemeClr val="dk1"/>
                </a:solidFill>
                <a:effectLst/>
                <a:uFillTx/>
                <a:latin typeface="Albert Sans"/>
                <a:ea typeface="Albert Sans"/>
              </a:rPr>
              <a:t>Staphylococcal toxic shock syndrome (STSS):</a:t>
            </a:r>
          </a:p>
          <a:p>
            <a:pPr algn="just">
              <a:lnSpc>
                <a:spcPct val="150000"/>
              </a:lnSpc>
              <a:tabLst>
                <a:tab pos="0" algn="l"/>
              </a:tabLst>
            </a:pPr>
            <a:r>
              <a:rPr lang="en-US" sz="1600" b="0" u="none" strike="noStrike" dirty="0">
                <a:solidFill>
                  <a:schemeClr val="dk1"/>
                </a:solidFill>
                <a:effectLst/>
                <a:uFillTx/>
                <a:latin typeface="Albert Sans"/>
                <a:ea typeface="Albert Sans"/>
              </a:rPr>
              <a:t>It can occur in the following cases.</a:t>
            </a:r>
          </a:p>
          <a:p>
            <a:pPr marL="342900" indent="-342900" algn="just">
              <a:lnSpc>
                <a:spcPct val="150000"/>
              </a:lnSpc>
              <a:buAutoNum type="alphaLcParenBoth"/>
              <a:tabLst>
                <a:tab pos="0" algn="l"/>
              </a:tabLst>
            </a:pPr>
            <a:r>
              <a:rPr lang="en-US" sz="1600" b="0" u="none" strike="noStrike" dirty="0">
                <a:solidFill>
                  <a:schemeClr val="dk1"/>
                </a:solidFill>
                <a:effectLst/>
                <a:uFillTx/>
                <a:latin typeface="Albert Sans"/>
                <a:ea typeface="Albert Sans"/>
              </a:rPr>
              <a:t>Menstrual Cases -It mainly causes toxic shock syndrome (TSS), usually associated with tampon during periods.</a:t>
            </a:r>
            <a:r>
              <a:rPr lang="en-US" sz="1600" dirty="0">
                <a:solidFill>
                  <a:schemeClr val="dk1"/>
                </a:solidFill>
                <a:latin typeface="Albert Sans"/>
                <a:ea typeface="Albert Sans"/>
              </a:rPr>
              <a:t> </a:t>
            </a:r>
            <a:r>
              <a:rPr lang="en-US" sz="1600" strike="noStrike" dirty="0">
                <a:solidFill>
                  <a:schemeClr val="dk1"/>
                </a:solidFill>
                <a:effectLst/>
                <a:uFillTx/>
                <a:latin typeface="Albert Sans"/>
                <a:ea typeface="Albert Sans"/>
              </a:rPr>
              <a:t>Symptoms include </a:t>
            </a:r>
            <a:r>
              <a:rPr lang="en-US" sz="1600" b="0" u="none" strike="noStrike" dirty="0">
                <a:solidFill>
                  <a:schemeClr val="dk1"/>
                </a:solidFill>
                <a:effectLst/>
                <a:uFillTx/>
                <a:latin typeface="Albert Sans"/>
                <a:ea typeface="Albert Sans"/>
              </a:rPr>
              <a:t>- Sudden high fever , Low BP , Red Rashes (like sun burn) Vomiting , </a:t>
            </a:r>
            <a:r>
              <a:rPr lang="en-US" sz="1600" b="0" u="none" strike="noStrike" dirty="0" err="1">
                <a:solidFill>
                  <a:schemeClr val="dk1"/>
                </a:solidFill>
                <a:effectLst/>
                <a:uFillTx/>
                <a:latin typeface="Albert Sans"/>
                <a:ea typeface="Albert Sans"/>
              </a:rPr>
              <a:t>Diarahea</a:t>
            </a:r>
            <a:r>
              <a:rPr lang="en-US" sz="1600" b="0" u="none" strike="noStrike" dirty="0">
                <a:solidFill>
                  <a:schemeClr val="dk1"/>
                </a:solidFill>
                <a:effectLst/>
                <a:uFillTx/>
                <a:latin typeface="Albert Sans"/>
                <a:ea typeface="Albert Sans"/>
              </a:rPr>
              <a:t>.</a:t>
            </a:r>
          </a:p>
          <a:p>
            <a:pPr marL="342900" indent="-342900" algn="just">
              <a:lnSpc>
                <a:spcPct val="150000"/>
              </a:lnSpc>
              <a:buAutoNum type="alphaLcParenBoth"/>
              <a:tabLst>
                <a:tab pos="0" algn="l"/>
              </a:tabLst>
            </a:pPr>
            <a:r>
              <a:rPr lang="en-US" sz="1600" b="0" u="none" strike="noStrike" dirty="0">
                <a:solidFill>
                  <a:schemeClr val="dk1"/>
                </a:solidFill>
                <a:effectLst/>
                <a:uFillTx/>
                <a:latin typeface="Albert Sans"/>
                <a:ea typeface="Albert Sans"/>
              </a:rPr>
              <a:t>Non-menstrual Cases- S. aureus  cause a variety of Infections such as soft tissue &amp; Skin Infections, bone and  Joint Injections (osteomyelitis, Septic arthritis), respiratory Infection (Pneumonia) &amp; Cardiac infection (endocarditis).</a:t>
            </a:r>
          </a:p>
          <a:p>
            <a:pPr algn="just">
              <a:lnSpc>
                <a:spcPct val="150000"/>
              </a:lnSpc>
              <a:tabLst>
                <a:tab pos="0" algn="l"/>
              </a:tabLst>
            </a:pPr>
            <a:endParaRPr lang="en-US" sz="1600" b="0" u="none" strike="noStrike" dirty="0">
              <a:solidFill>
                <a:schemeClr val="dk1"/>
              </a:solidFill>
              <a:effectLst/>
              <a:uFillTx/>
              <a:latin typeface="Albert Sans"/>
              <a:ea typeface="Albert Sans"/>
            </a:endParaRPr>
          </a:p>
          <a:p>
            <a:pPr>
              <a:lnSpc>
                <a:spcPct val="150000"/>
              </a:lnSpc>
              <a:tabLst>
                <a:tab pos="0" algn="l"/>
              </a:tabLst>
            </a:pPr>
            <a:endParaRPr lang="en-GB" sz="1800" b="1" u="sng" dirty="0"/>
          </a:p>
          <a:p>
            <a:pPr>
              <a:lnSpc>
                <a:spcPct val="150000"/>
              </a:lnSpc>
              <a:tabLst>
                <a:tab pos="0" algn="l"/>
              </a:tabLst>
            </a:pPr>
            <a:endParaRPr lang="en-US" sz="1800" b="0" u="none" strike="noStrike" dirty="0">
              <a:solidFill>
                <a:srgbClr val="000000"/>
              </a:solidFill>
              <a:effectLst/>
              <a:uFillTx/>
              <a:latin typeface="OpenSymbol"/>
            </a:endParaRPr>
          </a:p>
        </p:txBody>
      </p:sp>
      <p:pic>
        <p:nvPicPr>
          <p:cNvPr id="3" name="Picture 2">
            <a:extLst>
              <a:ext uri="{FF2B5EF4-FFF2-40B4-BE49-F238E27FC236}">
                <a16:creationId xmlns:a16="http://schemas.microsoft.com/office/drawing/2014/main" id="{ED5AF14A-6286-96C9-C5D1-9C2D521708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6193" y="367646"/>
            <a:ext cx="985545" cy="6787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D8E5DD9-0AD7-0FD4-8E10-EAB29A580D7C}"/>
              </a:ext>
            </a:extLst>
          </p:cNvPr>
          <p:cNvSpPr>
            <a:spLocks noGrp="1"/>
          </p:cNvSpPr>
          <p:nvPr>
            <p:ph type="body"/>
          </p:nvPr>
        </p:nvSpPr>
        <p:spPr>
          <a:xfrm>
            <a:off x="311084" y="697583"/>
            <a:ext cx="7379915" cy="4242061"/>
          </a:xfrm>
        </p:spPr>
        <p:txBody>
          <a:bodyPr>
            <a:normAutofit fontScale="77500" lnSpcReduction="20000"/>
          </a:bodyPr>
          <a:lstStyle/>
          <a:p>
            <a:pPr marL="0" indent="0">
              <a:buNone/>
            </a:pPr>
            <a:endParaRPr lang="en-US" sz="1800" dirty="0"/>
          </a:p>
          <a:p>
            <a:pPr>
              <a:lnSpc>
                <a:spcPct val="150000"/>
              </a:lnSpc>
              <a:tabLst>
                <a:tab pos="0" algn="l"/>
              </a:tabLst>
            </a:pPr>
            <a:r>
              <a:rPr lang="en-GB" sz="2000" b="1" dirty="0"/>
              <a:t>2. </a:t>
            </a:r>
            <a:r>
              <a:rPr lang="en-GB" sz="2000" b="1" u="sng" dirty="0"/>
              <a:t>Staphylococcal s scalded skin Syndrome (</a:t>
            </a:r>
            <a:r>
              <a:rPr lang="en-GB" sz="2000" b="1" u="sng" dirty="0" err="1"/>
              <a:t>ssss</a:t>
            </a:r>
            <a:r>
              <a:rPr lang="en-GB" sz="2000" b="1" u="sng" dirty="0"/>
              <a:t>)/4S- </a:t>
            </a:r>
          </a:p>
          <a:p>
            <a:pPr>
              <a:lnSpc>
                <a:spcPct val="150000"/>
              </a:lnSpc>
              <a:tabLst>
                <a:tab pos="0" algn="l"/>
              </a:tabLst>
            </a:pPr>
            <a:endParaRPr lang="en-GB" sz="2000" b="1" u="sng" dirty="0"/>
          </a:p>
          <a:p>
            <a:pPr algn="just">
              <a:lnSpc>
                <a:spcPct val="150000"/>
              </a:lnSpc>
              <a:tabLst>
                <a:tab pos="0" algn="l"/>
              </a:tabLst>
            </a:pPr>
            <a:r>
              <a:rPr lang="en-GB" sz="1800" dirty="0"/>
              <a:t>It is dermatological disease  caused by the exotoxin of the toxigenic strain of S. aureus.</a:t>
            </a:r>
            <a:r>
              <a:rPr lang="en-US" sz="1800" dirty="0"/>
              <a:t>It is mostly seen in infected  non-</a:t>
            </a:r>
            <a:r>
              <a:rPr lang="en-US" sz="1800" dirty="0" err="1"/>
              <a:t>breatfed</a:t>
            </a:r>
            <a:r>
              <a:rPr lang="en-US" sz="1800" dirty="0"/>
              <a:t> children who lack the maternal immunoglobulins (majority less than 2 years of age), people with renal dysfunction + immunocompromised Individuals.</a:t>
            </a:r>
          </a:p>
          <a:p>
            <a:pPr algn="just">
              <a:lnSpc>
                <a:spcPct val="150000"/>
              </a:lnSpc>
              <a:tabLst>
                <a:tab pos="0" algn="l"/>
              </a:tabLst>
            </a:pPr>
            <a:endParaRPr lang="en-US" sz="1800" dirty="0"/>
          </a:p>
          <a:p>
            <a:pPr marL="0" indent="0">
              <a:buNone/>
            </a:pPr>
            <a:endParaRPr lang="en-US" sz="1800" dirty="0"/>
          </a:p>
          <a:p>
            <a:pPr marL="0" indent="0">
              <a:buNone/>
            </a:pPr>
            <a:r>
              <a:rPr lang="en-US" sz="2500" b="1" u="sng" dirty="0"/>
              <a:t>Clinical Features:</a:t>
            </a:r>
          </a:p>
          <a:p>
            <a:pPr marL="0" indent="0">
              <a:buNone/>
            </a:pPr>
            <a:endParaRPr lang="en-US" dirty="0"/>
          </a:p>
          <a:p>
            <a:pPr marL="0" indent="0">
              <a:buNone/>
            </a:pPr>
            <a:r>
              <a:rPr lang="en-US" sz="1800" dirty="0"/>
              <a:t>•Very tender, flaccid blisters</a:t>
            </a:r>
          </a:p>
          <a:p>
            <a:pPr marL="0" indent="0">
              <a:buNone/>
            </a:pPr>
            <a:endParaRPr lang="en-US" sz="1800" dirty="0"/>
          </a:p>
          <a:p>
            <a:pPr marL="0" indent="0">
              <a:buNone/>
            </a:pPr>
            <a:r>
              <a:rPr lang="en-US" sz="1800" dirty="0"/>
              <a:t>•skin peeling (exfoliation)</a:t>
            </a:r>
          </a:p>
          <a:p>
            <a:pPr marL="0" indent="0">
              <a:buNone/>
            </a:pPr>
            <a:endParaRPr lang="en-US" sz="1800" dirty="0"/>
          </a:p>
          <a:p>
            <a:pPr marL="0" indent="0">
              <a:buNone/>
            </a:pPr>
            <a:r>
              <a:rPr lang="en-US" sz="1800" dirty="0"/>
              <a:t>•</a:t>
            </a:r>
            <a:r>
              <a:rPr lang="en-US" sz="1800" dirty="0" err="1"/>
              <a:t>Nikolsky's</a:t>
            </a:r>
            <a:r>
              <a:rPr lang="en-US" sz="1800" dirty="0"/>
              <a:t> Sign positive (</a:t>
            </a:r>
            <a:r>
              <a:rPr lang="en-US" sz="1800" dirty="0" err="1"/>
              <a:t>skinpeels</a:t>
            </a:r>
            <a:r>
              <a:rPr lang="en-US" sz="1800" dirty="0"/>
              <a:t> of on gentle rubbing) </a:t>
            </a:r>
          </a:p>
          <a:p>
            <a:pPr marL="0" indent="0">
              <a:buNone/>
            </a:pPr>
            <a:endParaRPr lang="en-US" sz="1800" dirty="0"/>
          </a:p>
          <a:p>
            <a:pPr marL="0" indent="0">
              <a:buNone/>
            </a:pPr>
            <a:r>
              <a:rPr lang="en-US" sz="1800" dirty="0"/>
              <a:t>•No mucus membrane involvement </a:t>
            </a:r>
          </a:p>
          <a:p>
            <a:endParaRPr lang="en-US" dirty="0"/>
          </a:p>
        </p:txBody>
      </p:sp>
      <p:pic>
        <p:nvPicPr>
          <p:cNvPr id="4" name="Picture 3">
            <a:extLst>
              <a:ext uri="{FF2B5EF4-FFF2-40B4-BE49-F238E27FC236}">
                <a16:creationId xmlns:a16="http://schemas.microsoft.com/office/drawing/2014/main" id="{43E0A11F-C47F-B358-1A14-F9B5B0170C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85267" y="160257"/>
            <a:ext cx="1136115" cy="782424"/>
          </a:xfrm>
          <a:prstGeom prst="rect">
            <a:avLst/>
          </a:prstGeom>
        </p:spPr>
      </p:pic>
    </p:spTree>
    <p:extLst>
      <p:ext uri="{BB962C8B-B14F-4D97-AF65-F5344CB8AC3E}">
        <p14:creationId xmlns:p14="http://schemas.microsoft.com/office/powerpoint/2010/main" val="4223265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F816442-C2D7-C108-8261-162A7B04E8F8}"/>
              </a:ext>
            </a:extLst>
          </p:cNvPr>
          <p:cNvSpPr>
            <a:spLocks noGrp="1"/>
          </p:cNvSpPr>
          <p:nvPr>
            <p:ph type="body"/>
          </p:nvPr>
        </p:nvSpPr>
        <p:spPr>
          <a:xfrm>
            <a:off x="424206" y="1203480"/>
            <a:ext cx="8262234" cy="2982960"/>
          </a:xfrm>
        </p:spPr>
        <p:txBody>
          <a:bodyPr/>
          <a:lstStyle/>
          <a:p>
            <a:pPr marL="0" indent="0">
              <a:buNone/>
            </a:pPr>
            <a:r>
              <a:rPr lang="en-US" sz="2000" b="1" u="sng" dirty="0"/>
              <a:t>Complications :</a:t>
            </a:r>
          </a:p>
          <a:p>
            <a:endParaRPr lang="en-US" dirty="0"/>
          </a:p>
          <a:p>
            <a:pPr marL="0" indent="0">
              <a:buNone/>
            </a:pPr>
            <a:r>
              <a:rPr lang="en-US" sz="1800" dirty="0"/>
              <a:t>•Extensive skin loss → body fluid loss.</a:t>
            </a:r>
          </a:p>
          <a:p>
            <a:endParaRPr lang="en-US" sz="1800" dirty="0"/>
          </a:p>
          <a:p>
            <a:pPr marL="0" indent="0">
              <a:buNone/>
            </a:pPr>
            <a:r>
              <a:rPr lang="en-US" sz="1800" dirty="0"/>
              <a:t>•Hemodynamic Instability (shock) </a:t>
            </a:r>
          </a:p>
          <a:p>
            <a:pPr marL="0" indent="0">
              <a:buNone/>
            </a:pPr>
            <a:endParaRPr lang="en-US" sz="1800" dirty="0"/>
          </a:p>
          <a:p>
            <a:pPr marL="0" indent="0">
              <a:buNone/>
            </a:pPr>
            <a:r>
              <a:rPr lang="en-US" sz="1800" dirty="0"/>
              <a:t>•hypothermia.</a:t>
            </a:r>
            <a:endParaRPr lang="en-AE" sz="1800" dirty="0"/>
          </a:p>
          <a:p>
            <a:endParaRPr lang="en-AE" dirty="0"/>
          </a:p>
        </p:txBody>
      </p:sp>
      <p:pic>
        <p:nvPicPr>
          <p:cNvPr id="4" name="Picture 3">
            <a:extLst>
              <a:ext uri="{FF2B5EF4-FFF2-40B4-BE49-F238E27FC236}">
                <a16:creationId xmlns:a16="http://schemas.microsoft.com/office/drawing/2014/main" id="{0E264FBD-A03B-E2B3-1189-C22DDE3657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24572396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26E1A-A946-DDC9-00E8-94EC9C56E445}"/>
              </a:ext>
            </a:extLst>
          </p:cNvPr>
          <p:cNvSpPr>
            <a:spLocks noGrp="1"/>
          </p:cNvSpPr>
          <p:nvPr>
            <p:ph type="title"/>
          </p:nvPr>
        </p:nvSpPr>
        <p:spPr>
          <a:xfrm>
            <a:off x="457198" y="565609"/>
            <a:ext cx="4275057" cy="584462"/>
          </a:xfrm>
        </p:spPr>
        <p:txBody>
          <a:bodyPr/>
          <a:lstStyle/>
          <a:p>
            <a:br>
              <a:rPr lang="en-GB" dirty="0"/>
            </a:br>
            <a:r>
              <a:rPr lang="en-GB" b="1" dirty="0"/>
              <a:t>Lab Diagnosis: </a:t>
            </a:r>
            <a:endParaRPr lang="en-AE" dirty="0"/>
          </a:p>
        </p:txBody>
      </p:sp>
      <p:sp>
        <p:nvSpPr>
          <p:cNvPr id="3" name="Text Placeholder 2">
            <a:extLst>
              <a:ext uri="{FF2B5EF4-FFF2-40B4-BE49-F238E27FC236}">
                <a16:creationId xmlns:a16="http://schemas.microsoft.com/office/drawing/2014/main" id="{0903E446-9339-1BA1-776C-84C4ADDB1836}"/>
              </a:ext>
            </a:extLst>
          </p:cNvPr>
          <p:cNvSpPr>
            <a:spLocks noGrp="1"/>
          </p:cNvSpPr>
          <p:nvPr>
            <p:ph type="body"/>
          </p:nvPr>
        </p:nvSpPr>
        <p:spPr>
          <a:xfrm>
            <a:off x="407709" y="1300899"/>
            <a:ext cx="8328581" cy="3570054"/>
          </a:xfrm>
        </p:spPr>
        <p:txBody>
          <a:bodyPr>
            <a:normAutofit fontScale="92500" lnSpcReduction="10000"/>
          </a:bodyPr>
          <a:lstStyle/>
          <a:p>
            <a:pPr marL="0" indent="0">
              <a:buNone/>
            </a:pPr>
            <a:r>
              <a:rPr lang="en-GB" sz="2600" b="1" u="sng" dirty="0"/>
              <a:t>Specimen Collection:</a:t>
            </a:r>
          </a:p>
          <a:p>
            <a:pPr marL="0" indent="0" algn="just">
              <a:buNone/>
            </a:pPr>
            <a:endParaRPr lang="en-GB" sz="2100" b="1" u="sng" dirty="0"/>
          </a:p>
          <a:p>
            <a:pPr marL="0" indent="0" algn="just">
              <a:buNone/>
            </a:pPr>
            <a:r>
              <a:rPr lang="en-GB" sz="2100" dirty="0"/>
              <a:t>Pus on any specific discharge </a:t>
            </a:r>
            <a:r>
              <a:rPr lang="en-GB" sz="2100" dirty="0" err="1"/>
              <a:t>swabs,urine,sputum</a:t>
            </a:r>
            <a:r>
              <a:rPr lang="en-GB" sz="2100" dirty="0"/>
              <a:t> </a:t>
            </a:r>
            <a:r>
              <a:rPr lang="en-GB" sz="2100" dirty="0" err="1"/>
              <a:t>feces</a:t>
            </a:r>
            <a:r>
              <a:rPr lang="en-GB" sz="2100" dirty="0"/>
              <a:t> or blood samples depending upon the clinical condition.</a:t>
            </a:r>
          </a:p>
          <a:p>
            <a:endParaRPr lang="en-GB" dirty="0"/>
          </a:p>
          <a:p>
            <a:pPr marL="0" indent="0">
              <a:buNone/>
            </a:pPr>
            <a:r>
              <a:rPr lang="en-GB" sz="2600" b="1" u="sng" dirty="0"/>
              <a:t>Specimen Analysis: </a:t>
            </a:r>
            <a:r>
              <a:rPr lang="en-GB" sz="2100" dirty="0"/>
              <a:t>The specimen analysis is done as follows:</a:t>
            </a:r>
          </a:p>
          <a:p>
            <a:pPr marL="0" indent="0" algn="just">
              <a:buNone/>
            </a:pPr>
            <a:endParaRPr lang="en-GB" dirty="0"/>
          </a:p>
          <a:p>
            <a:pPr marL="0" indent="0" algn="just">
              <a:buNone/>
            </a:pPr>
            <a:r>
              <a:rPr lang="en-GB" sz="1900" b="1" u="sng" dirty="0"/>
              <a:t>Direct Microscopy </a:t>
            </a:r>
            <a:r>
              <a:rPr lang="en-GB" sz="2100" dirty="0"/>
              <a:t>-The specimen is gram stained as per the gram staining process and the microscopic observations recorded. The presence of S. aureus  infection in the patient shows the presence of small cocci arranged in grape like clusters importantly.</a:t>
            </a:r>
            <a:endParaRPr lang="en-AE" sz="2100" dirty="0"/>
          </a:p>
        </p:txBody>
      </p:sp>
      <p:pic>
        <p:nvPicPr>
          <p:cNvPr id="5" name="Picture 4">
            <a:extLst>
              <a:ext uri="{FF2B5EF4-FFF2-40B4-BE49-F238E27FC236}">
                <a16:creationId xmlns:a16="http://schemas.microsoft.com/office/drawing/2014/main" id="{3A13F353-F1E8-D553-794C-56FC7DA06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29944988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DE5F251-4D24-0ECD-5116-155365663890}"/>
              </a:ext>
            </a:extLst>
          </p:cNvPr>
          <p:cNvSpPr>
            <a:spLocks noGrp="1"/>
          </p:cNvSpPr>
          <p:nvPr>
            <p:ph type="body"/>
          </p:nvPr>
        </p:nvSpPr>
        <p:spPr>
          <a:xfrm>
            <a:off x="279439" y="1269083"/>
            <a:ext cx="8072709" cy="3874417"/>
          </a:xfrm>
        </p:spPr>
        <p:txBody>
          <a:bodyPr>
            <a:normAutofit fontScale="92500"/>
          </a:bodyPr>
          <a:lstStyle/>
          <a:p>
            <a:pPr marL="0" indent="0">
              <a:buNone/>
            </a:pPr>
            <a:r>
              <a:rPr lang="en-GB" sz="2700" b="1" u="sng" dirty="0"/>
              <a:t>Culture: </a:t>
            </a:r>
            <a:r>
              <a:rPr lang="en-GB" sz="1900" dirty="0"/>
              <a:t>For further confirmation, the collected patient sample is then inoculated on specific culture media as follows:</a:t>
            </a:r>
          </a:p>
          <a:p>
            <a:pPr marL="0" indent="0">
              <a:buNone/>
            </a:pPr>
            <a:endParaRPr lang="en-GB" sz="2200" dirty="0"/>
          </a:p>
          <a:p>
            <a:pPr marL="457200" indent="-457200">
              <a:buAutoNum type="alphaLcParenBoth"/>
            </a:pPr>
            <a:r>
              <a:rPr lang="en-GB" sz="2200" b="1" u="sng" dirty="0"/>
              <a:t>Nutrient rich Agar : </a:t>
            </a:r>
          </a:p>
          <a:p>
            <a:pPr marL="457200" indent="-457200">
              <a:buAutoNum type="alphaLcParenBoth"/>
            </a:pPr>
            <a:endParaRPr lang="en-GB" sz="2200" b="1" u="sng" dirty="0"/>
          </a:p>
          <a:p>
            <a:pPr marL="0" indent="0" algn="just">
              <a:buNone/>
            </a:pPr>
            <a:r>
              <a:rPr lang="en-GB" sz="1900" dirty="0"/>
              <a:t>After the sample inoculation into a nutrient rich Agar medium, the inoculated medium is incubated at around 37°C overnight. The Colonies formed  are large, Yellow coloured due to the formation of carotenoids by the bacteria importing a golden </a:t>
            </a:r>
            <a:r>
              <a:rPr lang="en-GB" sz="1900" dirty="0" err="1"/>
              <a:t>color</a:t>
            </a:r>
            <a:r>
              <a:rPr lang="en-GB" sz="1900" dirty="0"/>
              <a:t>.</a:t>
            </a:r>
          </a:p>
          <a:p>
            <a:endParaRPr lang="en-GB" sz="2200" dirty="0"/>
          </a:p>
          <a:p>
            <a:pPr marL="0" indent="0" algn="just">
              <a:buNone/>
            </a:pPr>
            <a:r>
              <a:rPr lang="en-GB" sz="2200" b="1" dirty="0"/>
              <a:t>(b) </a:t>
            </a:r>
            <a:r>
              <a:rPr lang="en-GB" sz="2200" b="1" u="sng" dirty="0"/>
              <a:t>Nutrient broth: </a:t>
            </a:r>
          </a:p>
          <a:p>
            <a:pPr marL="0" indent="0" algn="just">
              <a:buNone/>
            </a:pPr>
            <a:endParaRPr lang="en-GB" sz="2200" b="1" u="sng" dirty="0"/>
          </a:p>
          <a:p>
            <a:pPr marL="0" indent="0" algn="just">
              <a:buNone/>
            </a:pPr>
            <a:r>
              <a:rPr lang="en-GB" sz="1800" dirty="0"/>
              <a:t>The Growth in a Nutrient both after overnight incubation at 37°c shows </a:t>
            </a:r>
            <a:r>
              <a:rPr lang="en-GB" sz="1800" dirty="0" err="1"/>
              <a:t>colorless</a:t>
            </a:r>
            <a:r>
              <a:rPr lang="en-GB" sz="1800" dirty="0"/>
              <a:t>, uniformly turbid growth with rarely </a:t>
            </a:r>
            <a:r>
              <a:rPr lang="en-GB" sz="1800" dirty="0" err="1"/>
              <a:t>stringly</a:t>
            </a:r>
            <a:r>
              <a:rPr lang="en-GB" sz="1800" dirty="0"/>
              <a:t> but amorphous sediment formation.</a:t>
            </a:r>
            <a:endParaRPr lang="en-AE" sz="1800" dirty="0"/>
          </a:p>
          <a:p>
            <a:endParaRPr lang="en-AE" dirty="0"/>
          </a:p>
        </p:txBody>
      </p:sp>
      <p:pic>
        <p:nvPicPr>
          <p:cNvPr id="4" name="Picture 3">
            <a:extLst>
              <a:ext uri="{FF2B5EF4-FFF2-40B4-BE49-F238E27FC236}">
                <a16:creationId xmlns:a16="http://schemas.microsoft.com/office/drawing/2014/main" id="{1776CCE1-B677-8CA7-485C-67DFBF72B2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5520" y="216817"/>
            <a:ext cx="1081362" cy="744717"/>
          </a:xfrm>
          <a:prstGeom prst="rect">
            <a:avLst/>
          </a:prstGeom>
        </p:spPr>
      </p:pic>
    </p:spTree>
    <p:extLst>
      <p:ext uri="{BB962C8B-B14F-4D97-AF65-F5344CB8AC3E}">
        <p14:creationId xmlns:p14="http://schemas.microsoft.com/office/powerpoint/2010/main" val="1156186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D1D70DB-9519-5FBB-611C-D277E0857145}"/>
              </a:ext>
            </a:extLst>
          </p:cNvPr>
          <p:cNvSpPr>
            <a:spLocks noGrp="1"/>
          </p:cNvSpPr>
          <p:nvPr>
            <p:ph type="body"/>
          </p:nvPr>
        </p:nvSpPr>
        <p:spPr>
          <a:xfrm>
            <a:off x="457200" y="452488"/>
            <a:ext cx="8229600" cy="4298622"/>
          </a:xfrm>
        </p:spPr>
        <p:txBody>
          <a:bodyPr>
            <a:normAutofit/>
          </a:bodyPr>
          <a:lstStyle/>
          <a:p>
            <a:pPr marL="0" indent="0">
              <a:buNone/>
            </a:pPr>
            <a:r>
              <a:rPr lang="en-GB" sz="2100" b="1" dirty="0"/>
              <a:t>(c) </a:t>
            </a:r>
            <a:r>
              <a:rPr lang="en-GB" sz="2100" b="1" u="sng" dirty="0"/>
              <a:t>Blood Agar</a:t>
            </a:r>
            <a:r>
              <a:rPr lang="en-GB" sz="1800" b="1" u="sng" dirty="0"/>
              <a:t>: </a:t>
            </a:r>
          </a:p>
          <a:p>
            <a:pPr marL="0" indent="0">
              <a:buNone/>
            </a:pPr>
            <a:endParaRPr lang="en-GB" sz="1800" b="1" u="sng" dirty="0"/>
          </a:p>
          <a:p>
            <a:pPr marL="0" indent="0" algn="just">
              <a:buNone/>
            </a:pPr>
            <a:r>
              <a:rPr lang="en-GB" sz="1800" dirty="0"/>
              <a:t>On the blood Agar after Overnight incubation atmosphere 30% CO₂ at 37°C , </a:t>
            </a:r>
            <a:r>
              <a:rPr lang="en-GB" sz="1800" dirty="0" err="1"/>
              <a:t>hemolytic</a:t>
            </a:r>
            <a:r>
              <a:rPr lang="en-GB" sz="1800" dirty="0"/>
              <a:t> </a:t>
            </a:r>
            <a:r>
              <a:rPr lang="en-GB" sz="1800" dirty="0" err="1"/>
              <a:t>colorless</a:t>
            </a:r>
            <a:r>
              <a:rPr lang="en-GB" sz="1800" dirty="0"/>
              <a:t> zones are formed due to the formation of  Beta - </a:t>
            </a:r>
            <a:r>
              <a:rPr lang="en-GB" sz="1800" dirty="0" err="1"/>
              <a:t>hemolysin</a:t>
            </a:r>
            <a:r>
              <a:rPr lang="en-GB" sz="1800" dirty="0"/>
              <a:t> specifically by the bacteria.</a:t>
            </a:r>
          </a:p>
          <a:p>
            <a:endParaRPr lang="en-GB" sz="1800" dirty="0"/>
          </a:p>
          <a:p>
            <a:endParaRPr lang="en-GB" sz="1800" dirty="0"/>
          </a:p>
          <a:p>
            <a:pPr marL="0" indent="0">
              <a:buNone/>
            </a:pPr>
            <a:r>
              <a:rPr lang="en-GB" sz="2100" b="1" u="sng" dirty="0"/>
              <a:t>(</a:t>
            </a:r>
            <a:r>
              <a:rPr lang="en-GB" sz="2100" b="1" dirty="0"/>
              <a:t>d) </a:t>
            </a:r>
            <a:r>
              <a:rPr lang="en-GB" sz="2100" b="1" u="sng" dirty="0"/>
              <a:t>Mannitol </a:t>
            </a:r>
            <a:r>
              <a:rPr lang="en-GB" sz="2100" b="1" u="sng" dirty="0" err="1"/>
              <a:t>Şalt</a:t>
            </a:r>
            <a:r>
              <a:rPr lang="en-GB" sz="2100" b="1" u="sng" dirty="0"/>
              <a:t> Agar Medium (with 75% NaCl) : </a:t>
            </a:r>
          </a:p>
          <a:p>
            <a:pPr marL="0" indent="0">
              <a:buNone/>
            </a:pPr>
            <a:endParaRPr lang="en-GB" sz="2100" b="1" u="sng" dirty="0"/>
          </a:p>
          <a:p>
            <a:pPr marL="0" indent="0" algn="just">
              <a:buNone/>
            </a:pPr>
            <a:r>
              <a:rPr lang="en-GB" sz="1800" dirty="0"/>
              <a:t>The S. aureus is salt- tolerant &amp; ferments mannitol after an Overnight incubation turning the Pink coloured Selective medium into Yellow colour. The other contaminant bacteria are usually not salt tolerant &amp; are Killed during Incubation. Meat -  infusion Agar with 7.5% NaCl can also be used as a Selective medium for epidemiological Investigations with incubation for 48 hours </a:t>
            </a:r>
            <a:r>
              <a:rPr lang="en-GB" sz="1800" dirty="0" err="1"/>
              <a:t>atleast</a:t>
            </a:r>
            <a:r>
              <a:rPr lang="en-GB" sz="1800" dirty="0"/>
              <a:t>.</a:t>
            </a:r>
            <a:endParaRPr lang="en-AE" sz="1800" dirty="0"/>
          </a:p>
        </p:txBody>
      </p:sp>
      <p:pic>
        <p:nvPicPr>
          <p:cNvPr id="7" name="Picture 6">
            <a:extLst>
              <a:ext uri="{FF2B5EF4-FFF2-40B4-BE49-F238E27FC236}">
                <a16:creationId xmlns:a16="http://schemas.microsoft.com/office/drawing/2014/main" id="{9EA7EA6F-35CB-FA11-4295-01ECD6C10A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90998" y="113122"/>
            <a:ext cx="1177180" cy="810705"/>
          </a:xfrm>
          <a:prstGeom prst="rect">
            <a:avLst/>
          </a:prstGeom>
        </p:spPr>
      </p:pic>
    </p:spTree>
    <p:extLst>
      <p:ext uri="{BB962C8B-B14F-4D97-AF65-F5344CB8AC3E}">
        <p14:creationId xmlns:p14="http://schemas.microsoft.com/office/powerpoint/2010/main" val="2025068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73B4-0D11-790A-430F-6DEB7B37C3FD}"/>
              </a:ext>
            </a:extLst>
          </p:cNvPr>
          <p:cNvSpPr>
            <a:spLocks noGrp="1"/>
          </p:cNvSpPr>
          <p:nvPr>
            <p:ph type="title"/>
          </p:nvPr>
        </p:nvSpPr>
        <p:spPr>
          <a:xfrm>
            <a:off x="456480" y="664011"/>
            <a:ext cx="4114800" cy="797144"/>
          </a:xfrm>
        </p:spPr>
        <p:txBody>
          <a:bodyPr/>
          <a:lstStyle/>
          <a:p>
            <a:r>
              <a:rPr lang="en-US" sz="3700" b="1" dirty="0"/>
              <a:t>Biochemical test</a:t>
            </a:r>
            <a:endParaRPr lang="en-AE" sz="3700" b="1" dirty="0"/>
          </a:p>
        </p:txBody>
      </p:sp>
      <p:sp>
        <p:nvSpPr>
          <p:cNvPr id="3" name="Text Placeholder 2">
            <a:extLst>
              <a:ext uri="{FF2B5EF4-FFF2-40B4-BE49-F238E27FC236}">
                <a16:creationId xmlns:a16="http://schemas.microsoft.com/office/drawing/2014/main" id="{3471B332-5372-0F21-E59B-5D4002C7894A}"/>
              </a:ext>
            </a:extLst>
          </p:cNvPr>
          <p:cNvSpPr>
            <a:spLocks noGrp="1"/>
          </p:cNvSpPr>
          <p:nvPr>
            <p:ph type="body"/>
          </p:nvPr>
        </p:nvSpPr>
        <p:spPr>
          <a:xfrm>
            <a:off x="456660" y="1461155"/>
            <a:ext cx="8229240" cy="2790334"/>
          </a:xfrm>
        </p:spPr>
        <p:txBody>
          <a:bodyPr>
            <a:normAutofit lnSpcReduction="10000"/>
          </a:bodyPr>
          <a:lstStyle/>
          <a:p>
            <a:pPr marL="0" indent="0" algn="just">
              <a:buNone/>
            </a:pPr>
            <a:r>
              <a:rPr lang="en-US" sz="1800" dirty="0"/>
              <a:t>The S. aureus bacteria are catalase positive while the  pathogenic streptococci species are </a:t>
            </a:r>
            <a:r>
              <a:rPr lang="en-US" sz="1800" dirty="0" err="1"/>
              <a:t>S.aureus</a:t>
            </a:r>
            <a:r>
              <a:rPr lang="en-US" sz="1800" dirty="0"/>
              <a:t> are oxidase  negative &amp; Coagulate positive while S. epidermidis and S. Saprophyticus coagulase negative.</a:t>
            </a:r>
          </a:p>
          <a:p>
            <a:pPr marL="0" indent="0">
              <a:buNone/>
            </a:pPr>
            <a:endParaRPr lang="en-US" sz="1800" dirty="0"/>
          </a:p>
          <a:p>
            <a:pPr marL="0" indent="0">
              <a:buNone/>
            </a:pPr>
            <a:r>
              <a:rPr lang="en-US" sz="2200" b="1" u="sng" dirty="0"/>
              <a:t>Coagulase test:</a:t>
            </a:r>
          </a:p>
          <a:p>
            <a:pPr marL="0" indent="0" algn="just">
              <a:buNone/>
            </a:pPr>
            <a:r>
              <a:rPr lang="en-GB" sz="1800" dirty="0"/>
              <a:t>The Coagulase test is  widely used for confirming the presence of the </a:t>
            </a:r>
            <a:r>
              <a:rPr lang="en-GB" sz="1800" dirty="0" err="1"/>
              <a:t>S.aureus</a:t>
            </a:r>
            <a:r>
              <a:rPr lang="en-GB" sz="1800" dirty="0"/>
              <a:t> pathogen in the patient's </a:t>
            </a:r>
            <a:r>
              <a:rPr lang="en-GB" sz="1800" dirty="0" err="1"/>
              <a:t>sample.The</a:t>
            </a:r>
            <a:r>
              <a:rPr lang="en-GB" sz="1800" dirty="0"/>
              <a:t> Coagulase enzyme produced by this bacterium clots the blood plasma.</a:t>
            </a:r>
          </a:p>
          <a:p>
            <a:pPr marL="0" indent="0" algn="just">
              <a:buNone/>
            </a:pPr>
            <a:endParaRPr lang="en-GB" sz="1800" dirty="0"/>
          </a:p>
          <a:p>
            <a:pPr marL="0" indent="0" algn="just">
              <a:buNone/>
            </a:pPr>
            <a:r>
              <a:rPr lang="en-GB" sz="1800" dirty="0"/>
              <a:t>The other staphylococcal species usually de not clot the blood plasma as they do </a:t>
            </a:r>
            <a:r>
              <a:rPr lang="en-GB" sz="1800" dirty="0" err="1"/>
              <a:t>do</a:t>
            </a:r>
            <a:r>
              <a:rPr lang="en-GB" sz="1800" dirty="0"/>
              <a:t> not form the Coagulase enzyme.</a:t>
            </a:r>
            <a:endParaRPr lang="en-AE" sz="1800" dirty="0"/>
          </a:p>
        </p:txBody>
      </p:sp>
      <p:pic>
        <p:nvPicPr>
          <p:cNvPr id="4" name="Picture 3">
            <a:extLst>
              <a:ext uri="{FF2B5EF4-FFF2-40B4-BE49-F238E27FC236}">
                <a16:creationId xmlns:a16="http://schemas.microsoft.com/office/drawing/2014/main" id="{D6E1A0E4-D747-8C50-9C62-6C01FE9488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34381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DE79447-1A0B-4539-295B-5D2DDF6E3A4E}"/>
              </a:ext>
            </a:extLst>
          </p:cNvPr>
          <p:cNvSpPr>
            <a:spLocks noGrp="1"/>
          </p:cNvSpPr>
          <p:nvPr>
            <p:ph type="body"/>
          </p:nvPr>
        </p:nvSpPr>
        <p:spPr>
          <a:xfrm>
            <a:off x="457200" y="527901"/>
            <a:ext cx="7037109" cy="3921551"/>
          </a:xfrm>
        </p:spPr>
        <p:txBody>
          <a:bodyPr>
            <a:normAutofit/>
          </a:bodyPr>
          <a:lstStyle/>
          <a:p>
            <a:pPr marL="0" indent="0">
              <a:buNone/>
            </a:pPr>
            <a:r>
              <a:rPr lang="en-GB" b="1" u="sng" dirty="0"/>
              <a:t>Indications:</a:t>
            </a:r>
          </a:p>
          <a:p>
            <a:endParaRPr lang="en-GB" b="1" u="sng" dirty="0"/>
          </a:p>
          <a:p>
            <a:pPr marL="342900" indent="-342900">
              <a:buFont typeface="Arial" panose="020B0604020202020204" pitchFamily="34" charset="0"/>
              <a:buChar char="•"/>
            </a:pPr>
            <a:r>
              <a:rPr lang="en-GB" sz="2000" dirty="0"/>
              <a:t>To identify staphylococcus aureus.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To separate harmful staphylococci from less harmful ones.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To check if a bacteria from Pus, Wound, blood, urine or  Sputum is </a:t>
            </a:r>
            <a:r>
              <a:rPr lang="en-GB" sz="2000" dirty="0" err="1"/>
              <a:t>S.aureus</a:t>
            </a:r>
            <a:r>
              <a:rPr lang="en-GB" sz="2000" dirty="0"/>
              <a: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To help doctors to choose the right antibiotic.</a:t>
            </a:r>
            <a:endParaRPr lang="en-AE" sz="2000" dirty="0"/>
          </a:p>
        </p:txBody>
      </p:sp>
      <p:pic>
        <p:nvPicPr>
          <p:cNvPr id="4" name="Picture 3">
            <a:extLst>
              <a:ext uri="{FF2B5EF4-FFF2-40B4-BE49-F238E27FC236}">
                <a16:creationId xmlns:a16="http://schemas.microsoft.com/office/drawing/2014/main" id="{991D8304-0F35-ADE4-7038-4CEBFA2E3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1639787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54DD4F9-244B-E508-2216-1603B5270670}"/>
              </a:ext>
            </a:extLst>
          </p:cNvPr>
          <p:cNvSpPr>
            <a:spLocks noGrp="1"/>
          </p:cNvSpPr>
          <p:nvPr>
            <p:ph type="body"/>
          </p:nvPr>
        </p:nvSpPr>
        <p:spPr>
          <a:xfrm>
            <a:off x="457380" y="282804"/>
            <a:ext cx="8229240" cy="4383464"/>
          </a:xfrm>
        </p:spPr>
        <p:txBody>
          <a:bodyPr>
            <a:normAutofit/>
          </a:bodyPr>
          <a:lstStyle/>
          <a:p>
            <a:pPr marL="0" indent="0">
              <a:buNone/>
            </a:pPr>
            <a:r>
              <a:rPr lang="en-GB" sz="2300" b="1" u="sng" dirty="0"/>
              <a:t>Antibiotic Sensitivity test: </a:t>
            </a:r>
          </a:p>
          <a:p>
            <a:pPr marL="0" indent="0" algn="just">
              <a:buNone/>
            </a:pPr>
            <a:r>
              <a:rPr lang="en-GB" sz="1900" dirty="0"/>
              <a:t>The sensitivity to antibiotics can be assessed  for deciding  upon the patient's antibiotic therapy in the following ways. </a:t>
            </a:r>
          </a:p>
          <a:p>
            <a:pPr marL="0" indent="0">
              <a:buNone/>
            </a:pPr>
            <a:endParaRPr lang="en-GB" sz="1900" b="1" u="sng" dirty="0"/>
          </a:p>
          <a:p>
            <a:pPr marL="0" indent="0">
              <a:buNone/>
            </a:pPr>
            <a:endParaRPr lang="en-GB" sz="2100" b="1" u="sng" dirty="0"/>
          </a:p>
          <a:p>
            <a:pPr marL="0" indent="0">
              <a:buNone/>
            </a:pPr>
            <a:r>
              <a:rPr lang="en-GB" sz="2300" b="1" u="sng" dirty="0"/>
              <a:t>Serial dilution method: </a:t>
            </a:r>
          </a:p>
          <a:p>
            <a:pPr marL="0" indent="0" algn="just">
              <a:buNone/>
            </a:pPr>
            <a:r>
              <a:rPr lang="en-GB" sz="1900" dirty="0"/>
              <a:t>It is a time consuming quantitative Procedure for determining the precise bacterial Sensitivity towards the antibiotics.</a:t>
            </a:r>
          </a:p>
          <a:p>
            <a:pPr marL="0" indent="0">
              <a:buNone/>
            </a:pPr>
            <a:endParaRPr lang="en-GB" dirty="0"/>
          </a:p>
          <a:p>
            <a:pPr marL="0" indent="0">
              <a:buNone/>
            </a:pPr>
            <a:r>
              <a:rPr lang="en-GB" sz="2300" b="1" u="sng" dirty="0"/>
              <a:t>Dise method: </a:t>
            </a:r>
          </a:p>
          <a:p>
            <a:pPr marL="0" indent="0" algn="just">
              <a:buNone/>
            </a:pPr>
            <a:r>
              <a:rPr lang="en-GB" sz="1900" dirty="0"/>
              <a:t>It is a qualitative, less time Consuming but less precise method as compared to the serial dilution method.</a:t>
            </a:r>
            <a:endParaRPr lang="en-AE" sz="1900" dirty="0"/>
          </a:p>
        </p:txBody>
      </p:sp>
      <p:pic>
        <p:nvPicPr>
          <p:cNvPr id="5" name="Picture 4">
            <a:extLst>
              <a:ext uri="{FF2B5EF4-FFF2-40B4-BE49-F238E27FC236}">
                <a16:creationId xmlns:a16="http://schemas.microsoft.com/office/drawing/2014/main" id="{B58D485C-E8DE-EE31-D347-B9B56FA3E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70106" y="111675"/>
            <a:ext cx="1061611" cy="731114"/>
          </a:xfrm>
          <a:prstGeom prst="rect">
            <a:avLst/>
          </a:prstGeom>
        </p:spPr>
      </p:pic>
    </p:spTree>
    <p:extLst>
      <p:ext uri="{BB962C8B-B14F-4D97-AF65-F5344CB8AC3E}">
        <p14:creationId xmlns:p14="http://schemas.microsoft.com/office/powerpoint/2010/main" val="8110962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C2CB75-27D2-6429-C5B0-C4D2C1DE6BA5}"/>
              </a:ext>
            </a:extLst>
          </p:cNvPr>
          <p:cNvSpPr>
            <a:spLocks noGrp="1"/>
          </p:cNvSpPr>
          <p:nvPr>
            <p:ph type="body"/>
          </p:nvPr>
        </p:nvSpPr>
        <p:spPr>
          <a:xfrm>
            <a:off x="381786" y="471341"/>
            <a:ext cx="8064630" cy="3864989"/>
          </a:xfrm>
        </p:spPr>
        <p:txBody>
          <a:bodyPr/>
          <a:lstStyle/>
          <a:p>
            <a:pPr marL="0" indent="0">
              <a:buNone/>
            </a:pPr>
            <a:r>
              <a:rPr lang="en-GB" b="1" u="sng" dirty="0"/>
              <a:t>Indication:</a:t>
            </a:r>
          </a:p>
          <a:p>
            <a:pPr marL="0" indent="0">
              <a:buNone/>
            </a:pPr>
            <a:endParaRPr lang="en-GB" b="1" u="sng" dirty="0"/>
          </a:p>
          <a:p>
            <a:pPr marL="342900" indent="-342900" algn="just">
              <a:buFont typeface="Arial" panose="020B0604020202020204" pitchFamily="34" charset="0"/>
              <a:buChar char="•"/>
            </a:pPr>
            <a:r>
              <a:rPr lang="en-GB" sz="2000" dirty="0"/>
              <a:t>Severe </a:t>
            </a:r>
            <a:r>
              <a:rPr lang="en-GB" sz="2000" dirty="0" err="1"/>
              <a:t>orlife</a:t>
            </a:r>
            <a:r>
              <a:rPr lang="en-GB" sz="2000" dirty="0"/>
              <a:t>-threatening Infections (</a:t>
            </a:r>
            <a:r>
              <a:rPr lang="en-GB" sz="2000" dirty="0" err="1"/>
              <a:t>eg</a:t>
            </a:r>
            <a:r>
              <a:rPr lang="en-GB" sz="2000" dirty="0"/>
              <a:t>-sepsis)</a:t>
            </a:r>
          </a:p>
          <a:p>
            <a:pPr marL="342900" indent="-342900" algn="just">
              <a:buFont typeface="Arial" panose="020B0604020202020204" pitchFamily="34" charset="0"/>
              <a:buChar char="•"/>
            </a:pPr>
            <a:endParaRPr lang="en-GB" sz="2000" dirty="0"/>
          </a:p>
          <a:p>
            <a:pPr marL="342900" indent="-342900" algn="just">
              <a:buFont typeface="Arial" panose="020B0604020202020204" pitchFamily="34" charset="0"/>
              <a:buChar char="•"/>
            </a:pPr>
            <a:r>
              <a:rPr lang="en-GB" sz="2000" dirty="0"/>
              <a:t>Failure of Initial </a:t>
            </a:r>
            <a:r>
              <a:rPr lang="en-GB" sz="2000" dirty="0" err="1"/>
              <a:t>antibiotictherapy</a:t>
            </a:r>
            <a:r>
              <a:rPr lang="en-GB" sz="2000" dirty="0"/>
              <a:t>.</a:t>
            </a:r>
          </a:p>
          <a:p>
            <a:pPr marL="342900" indent="-342900" algn="just">
              <a:buFont typeface="Arial" panose="020B0604020202020204" pitchFamily="34" charset="0"/>
              <a:buChar char="•"/>
            </a:pPr>
            <a:endParaRPr lang="en-GB" sz="2000" dirty="0"/>
          </a:p>
          <a:p>
            <a:pPr marL="342900" indent="-342900" algn="just">
              <a:buFont typeface="Arial" panose="020B0604020202020204" pitchFamily="34" charset="0"/>
              <a:buChar char="•"/>
            </a:pPr>
            <a:r>
              <a:rPr lang="en-GB" sz="2000" dirty="0"/>
              <a:t>Recurrent or chronic Infection </a:t>
            </a:r>
            <a:r>
              <a:rPr lang="en-GB" sz="2000" dirty="0" err="1"/>
              <a:t>e.g</a:t>
            </a:r>
            <a:r>
              <a:rPr lang="en-GB" sz="2000" dirty="0"/>
              <a:t>-recurrent </a:t>
            </a:r>
            <a:r>
              <a:rPr lang="en-GB" sz="2000" dirty="0" err="1"/>
              <a:t>UTI,chronic</a:t>
            </a:r>
            <a:r>
              <a:rPr lang="en-GB" sz="2000" dirty="0"/>
              <a:t> Wounds</a:t>
            </a:r>
          </a:p>
          <a:p>
            <a:pPr marL="342900" indent="-342900" algn="just">
              <a:buFont typeface="Arial" panose="020B0604020202020204" pitchFamily="34" charset="0"/>
              <a:buChar char="•"/>
            </a:pPr>
            <a:endParaRPr lang="en-GB" sz="2000" dirty="0"/>
          </a:p>
          <a:p>
            <a:pPr marL="342900" indent="-342900" algn="just">
              <a:buFont typeface="Arial" panose="020B0604020202020204" pitchFamily="34" charset="0"/>
              <a:buChar char="•"/>
            </a:pPr>
            <a:r>
              <a:rPr lang="en-GB" sz="2000" dirty="0"/>
              <a:t>Hospital - acquired infections or infections in immunocompromised patients.</a:t>
            </a:r>
            <a:endParaRPr lang="en-AE" sz="2000" dirty="0"/>
          </a:p>
        </p:txBody>
      </p:sp>
      <p:pic>
        <p:nvPicPr>
          <p:cNvPr id="4" name="Picture 3">
            <a:extLst>
              <a:ext uri="{FF2B5EF4-FFF2-40B4-BE49-F238E27FC236}">
                <a16:creationId xmlns:a16="http://schemas.microsoft.com/office/drawing/2014/main" id="{6006CD34-4DF5-AB23-150A-AA6492846C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543746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694E4-AE8C-5F2F-06B4-EFCA01E9B9B4}"/>
              </a:ext>
            </a:extLst>
          </p:cNvPr>
          <p:cNvSpPr>
            <a:spLocks noGrp="1"/>
          </p:cNvSpPr>
          <p:nvPr>
            <p:ph type="title"/>
          </p:nvPr>
        </p:nvSpPr>
        <p:spPr>
          <a:xfrm>
            <a:off x="241732" y="502131"/>
            <a:ext cx="7084064" cy="506538"/>
          </a:xfrm>
        </p:spPr>
        <p:txBody>
          <a:bodyPr/>
          <a:lstStyle/>
          <a:p>
            <a:r>
              <a:rPr lang="en-GB" sz="2700" b="1" dirty="0"/>
              <a:t>Interpretation of Antibiotic Sensitivity Test </a:t>
            </a:r>
            <a:endParaRPr lang="en-AE" sz="2700" b="1" dirty="0"/>
          </a:p>
        </p:txBody>
      </p:sp>
      <p:sp>
        <p:nvSpPr>
          <p:cNvPr id="3" name="Text Placeholder 2">
            <a:extLst>
              <a:ext uri="{FF2B5EF4-FFF2-40B4-BE49-F238E27FC236}">
                <a16:creationId xmlns:a16="http://schemas.microsoft.com/office/drawing/2014/main" id="{292BC952-D76E-BA03-F4EB-411C918BCC56}"/>
              </a:ext>
            </a:extLst>
          </p:cNvPr>
          <p:cNvSpPr>
            <a:spLocks noGrp="1"/>
          </p:cNvSpPr>
          <p:nvPr>
            <p:ph type="body"/>
          </p:nvPr>
        </p:nvSpPr>
        <p:spPr>
          <a:xfrm>
            <a:off x="476234" y="1272619"/>
            <a:ext cx="6452467" cy="4166647"/>
          </a:xfrm>
        </p:spPr>
        <p:txBody>
          <a:bodyPr/>
          <a:lstStyle/>
          <a:p>
            <a:endParaRPr lang="en-GB" sz="2000" b="1" dirty="0"/>
          </a:p>
          <a:p>
            <a:endParaRPr lang="en-GB" sz="2000" b="1" dirty="0"/>
          </a:p>
          <a:p>
            <a:r>
              <a:rPr lang="en-GB" sz="2000" b="1" dirty="0"/>
              <a:t>1.</a:t>
            </a:r>
            <a:r>
              <a:rPr lang="en-GB" sz="2000" b="1" u="sng" dirty="0"/>
              <a:t>Sensitive (S)</a:t>
            </a:r>
          </a:p>
          <a:p>
            <a:endParaRPr lang="en-GB" sz="2000" b="1" u="sng" dirty="0"/>
          </a:p>
          <a:p>
            <a:r>
              <a:rPr lang="en-GB" sz="1800" dirty="0"/>
              <a:t>•The bacteria can be killed or  stopped by the antibiotic.</a:t>
            </a:r>
          </a:p>
          <a:p>
            <a:r>
              <a:rPr lang="en-GB" sz="1800" dirty="0"/>
              <a:t>•The antibiotic will work well for treatment.</a:t>
            </a:r>
          </a:p>
          <a:p>
            <a:endParaRPr lang="en-GB" sz="1800" dirty="0"/>
          </a:p>
          <a:p>
            <a:endParaRPr lang="en-GB" sz="1800" dirty="0"/>
          </a:p>
          <a:p>
            <a:endParaRPr lang="en-GB" sz="1800" dirty="0"/>
          </a:p>
          <a:p>
            <a:r>
              <a:rPr lang="en-GB" sz="2000" b="1" dirty="0"/>
              <a:t>2. </a:t>
            </a:r>
            <a:r>
              <a:rPr lang="en-GB" sz="2000" b="1" u="sng" dirty="0"/>
              <a:t>Intermediate (I)</a:t>
            </a:r>
          </a:p>
          <a:p>
            <a:endParaRPr lang="en-GB" sz="2000" b="1" u="sng" dirty="0"/>
          </a:p>
          <a:p>
            <a:pPr algn="just"/>
            <a:r>
              <a:rPr lang="en-GB" sz="1800" dirty="0"/>
              <a:t>•The antibiotic might work, but not very Strongly.</a:t>
            </a:r>
          </a:p>
          <a:p>
            <a:pPr algn="just"/>
            <a:r>
              <a:rPr lang="en-GB" sz="1800" dirty="0"/>
              <a:t>•It may require a higher dose or it may work only in Certain body  areas.</a:t>
            </a:r>
          </a:p>
          <a:p>
            <a:endParaRPr lang="en-GB" sz="1800" dirty="0"/>
          </a:p>
          <a:p>
            <a:endParaRPr lang="en-GB" sz="1800" dirty="0"/>
          </a:p>
          <a:p>
            <a:pPr marL="0" indent="0">
              <a:buNone/>
            </a:pPr>
            <a:endParaRPr lang="en-GB" sz="1800" dirty="0"/>
          </a:p>
        </p:txBody>
      </p:sp>
      <p:pic>
        <p:nvPicPr>
          <p:cNvPr id="4" name="Picture 3">
            <a:extLst>
              <a:ext uri="{FF2B5EF4-FFF2-40B4-BE49-F238E27FC236}">
                <a16:creationId xmlns:a16="http://schemas.microsoft.com/office/drawing/2014/main" id="{2C6C84A8-194A-4429-933B-CE89109AD3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3727" y="307900"/>
            <a:ext cx="868541" cy="598151"/>
          </a:xfrm>
          <a:prstGeom prst="rect">
            <a:avLst/>
          </a:prstGeom>
        </p:spPr>
      </p:pic>
    </p:spTree>
    <p:extLst>
      <p:ext uri="{BB962C8B-B14F-4D97-AF65-F5344CB8AC3E}">
        <p14:creationId xmlns:p14="http://schemas.microsoft.com/office/powerpoint/2010/main" val="601367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51B3B0-3571-0F68-9BA0-FE1FBE3A5245}"/>
              </a:ext>
            </a:extLst>
          </p:cNvPr>
          <p:cNvSpPr>
            <a:spLocks noGrp="1"/>
          </p:cNvSpPr>
          <p:nvPr>
            <p:ph type="body"/>
          </p:nvPr>
        </p:nvSpPr>
        <p:spPr>
          <a:xfrm>
            <a:off x="457200" y="339365"/>
            <a:ext cx="8229240" cy="3847075"/>
          </a:xfrm>
        </p:spPr>
        <p:txBody>
          <a:bodyPr/>
          <a:lstStyle/>
          <a:p>
            <a:pPr marL="0" indent="0">
              <a:buNone/>
            </a:pPr>
            <a:r>
              <a:rPr lang="en-GB" sz="2000" b="1" u="sng" dirty="0"/>
              <a:t>Resistant (R):</a:t>
            </a:r>
          </a:p>
          <a:p>
            <a:pPr marL="0" indent="0">
              <a:buNone/>
            </a:pPr>
            <a:endParaRPr lang="en-GB" sz="2000" b="1" u="sng" dirty="0"/>
          </a:p>
          <a:p>
            <a:pPr marL="0" indent="0">
              <a:buNone/>
            </a:pPr>
            <a:r>
              <a:rPr lang="en-GB" sz="1800" dirty="0"/>
              <a:t>•The bacteria cannot be killed by antibiotic.</a:t>
            </a:r>
          </a:p>
          <a:p>
            <a:pPr marL="0" indent="0">
              <a:buNone/>
            </a:pPr>
            <a:r>
              <a:rPr lang="en-GB" sz="1800" dirty="0"/>
              <a:t>•The antibiotic will not work.</a:t>
            </a:r>
          </a:p>
          <a:p>
            <a:pPr marL="0" indent="0">
              <a:buNone/>
            </a:pPr>
            <a:endParaRPr lang="en-GB" sz="1800" dirty="0"/>
          </a:p>
          <a:p>
            <a:pPr marL="0" indent="0">
              <a:buNone/>
            </a:pPr>
            <a:r>
              <a:rPr lang="en-GB" sz="2000" b="1" u="sng" dirty="0"/>
              <a:t>Serological test:</a:t>
            </a:r>
          </a:p>
          <a:p>
            <a:pPr marL="0" indent="0">
              <a:buNone/>
            </a:pPr>
            <a:endParaRPr lang="en-GB" sz="2000" b="1" u="sng" dirty="0"/>
          </a:p>
          <a:p>
            <a:pPr marL="0" indent="0" algn="just">
              <a:buNone/>
            </a:pPr>
            <a:r>
              <a:rPr lang="en-GB" sz="1800" dirty="0"/>
              <a:t>Serological tests are not considered </a:t>
            </a:r>
            <a:r>
              <a:rPr lang="en-GB" sz="1800" dirty="0" err="1"/>
              <a:t>verysignificant</a:t>
            </a:r>
            <a:r>
              <a:rPr lang="en-GB" sz="1800" dirty="0"/>
              <a:t> in the diagnosis of the </a:t>
            </a:r>
            <a:r>
              <a:rPr lang="en-GB" sz="1800" dirty="0" err="1"/>
              <a:t>disease,but</a:t>
            </a:r>
            <a:r>
              <a:rPr lang="en-GB" sz="1800" dirty="0"/>
              <a:t> they are found to be more useful in certain research procedure.</a:t>
            </a:r>
          </a:p>
          <a:p>
            <a:pPr marL="0" indent="0" algn="just">
              <a:buNone/>
            </a:pPr>
            <a:r>
              <a:rPr lang="en-GB" sz="1800" dirty="0"/>
              <a:t> However, Molecular diagnostic methods such as Polymerase Chain reaction (PCR) can be effectively used for diagnostic purpose.</a:t>
            </a:r>
          </a:p>
          <a:p>
            <a:pPr marL="0" indent="0">
              <a:buNone/>
            </a:pPr>
            <a:endParaRPr lang="en-AE" sz="1800" dirty="0"/>
          </a:p>
        </p:txBody>
      </p:sp>
      <p:pic>
        <p:nvPicPr>
          <p:cNvPr id="4" name="Picture 3">
            <a:extLst>
              <a:ext uri="{FF2B5EF4-FFF2-40B4-BE49-F238E27FC236}">
                <a16:creationId xmlns:a16="http://schemas.microsoft.com/office/drawing/2014/main" id="{D4390BAF-1FEF-7566-FB15-A89F3A1F7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32486754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CF7EA2-21D8-5409-5EE9-D34E0F63FEF6}"/>
              </a:ext>
            </a:extLst>
          </p:cNvPr>
          <p:cNvSpPr>
            <a:spLocks noGrp="1"/>
          </p:cNvSpPr>
          <p:nvPr>
            <p:ph type="body"/>
          </p:nvPr>
        </p:nvSpPr>
        <p:spPr>
          <a:xfrm>
            <a:off x="447954" y="631596"/>
            <a:ext cx="6820113" cy="3629319"/>
          </a:xfrm>
        </p:spPr>
        <p:txBody>
          <a:bodyPr>
            <a:normAutofit/>
          </a:bodyPr>
          <a:lstStyle/>
          <a:p>
            <a:pPr marL="0" indent="0">
              <a:buNone/>
            </a:pPr>
            <a:r>
              <a:rPr lang="en-US" b="1" u="sng" dirty="0"/>
              <a:t>Indications:</a:t>
            </a:r>
          </a:p>
          <a:p>
            <a:pPr marL="571500" indent="-571500">
              <a:buFont typeface="Arial" panose="020B0604020202020204" pitchFamily="34" charset="0"/>
              <a:buChar char="•"/>
            </a:pPr>
            <a:endParaRPr lang="en-US" b="1" u="sng" dirty="0"/>
          </a:p>
          <a:p>
            <a:pPr marL="285750" indent="-285750">
              <a:buFont typeface="Arial" panose="020B0604020202020204" pitchFamily="34" charset="0"/>
              <a:buChar char="•"/>
            </a:pPr>
            <a:r>
              <a:rPr lang="en-US" sz="1800" dirty="0"/>
              <a:t>To detect antibodies or antigens in infection.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For diagnose chronic infection (</a:t>
            </a:r>
            <a:r>
              <a:rPr lang="en-US" sz="1800" dirty="0" err="1"/>
              <a:t>eg</a:t>
            </a:r>
            <a:r>
              <a:rPr lang="en-US" sz="1800" dirty="0"/>
              <a:t>-hepatitis, HIV).</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To detect recent or past infection (IgM vs IgG).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To confirm autoimmune disease (</a:t>
            </a:r>
            <a:r>
              <a:rPr lang="en-US" sz="1800" dirty="0" err="1"/>
              <a:t>eg</a:t>
            </a:r>
            <a:r>
              <a:rPr lang="en-US" sz="1800" dirty="0"/>
              <a:t>-ANA).</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To monitor disease progression or immunity after Vaccination.</a:t>
            </a:r>
            <a:endParaRPr lang="en-AE" sz="1800" dirty="0"/>
          </a:p>
        </p:txBody>
      </p:sp>
      <p:pic>
        <p:nvPicPr>
          <p:cNvPr id="4" name="Picture 3">
            <a:extLst>
              <a:ext uri="{FF2B5EF4-FFF2-40B4-BE49-F238E27FC236}">
                <a16:creationId xmlns:a16="http://schemas.microsoft.com/office/drawing/2014/main" id="{F350DCD8-57EC-FADA-B409-755C3524D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21066477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BEF27-91E6-A74C-42CE-F8EE36549FCF}"/>
              </a:ext>
            </a:extLst>
          </p:cNvPr>
          <p:cNvSpPr>
            <a:spLocks noGrp="1"/>
          </p:cNvSpPr>
          <p:nvPr>
            <p:ph type="title"/>
          </p:nvPr>
        </p:nvSpPr>
        <p:spPr>
          <a:xfrm>
            <a:off x="1701538" y="-565501"/>
            <a:ext cx="4944358" cy="1274760"/>
          </a:xfrm>
        </p:spPr>
        <p:txBody>
          <a:bodyPr/>
          <a:lstStyle/>
          <a:p>
            <a:r>
              <a:rPr lang="en-US" sz="3700" b="1" dirty="0"/>
              <a:t>Result Interpretation </a:t>
            </a:r>
            <a:endParaRPr lang="en-AE" sz="3700" b="1" dirty="0"/>
          </a:p>
        </p:txBody>
      </p:sp>
      <p:sp>
        <p:nvSpPr>
          <p:cNvPr id="3" name="Text Placeholder 2">
            <a:extLst>
              <a:ext uri="{FF2B5EF4-FFF2-40B4-BE49-F238E27FC236}">
                <a16:creationId xmlns:a16="http://schemas.microsoft.com/office/drawing/2014/main" id="{B76F35A5-736A-DD97-9F82-8C086A31BC09}"/>
              </a:ext>
            </a:extLst>
          </p:cNvPr>
          <p:cNvSpPr>
            <a:spLocks noGrp="1"/>
          </p:cNvSpPr>
          <p:nvPr>
            <p:ph type="body"/>
          </p:nvPr>
        </p:nvSpPr>
        <p:spPr>
          <a:xfrm>
            <a:off x="457200" y="957061"/>
            <a:ext cx="8229240" cy="3407549"/>
          </a:xfrm>
        </p:spPr>
        <p:txBody>
          <a:bodyPr>
            <a:normAutofit/>
          </a:bodyPr>
          <a:lstStyle/>
          <a:p>
            <a:pPr marL="0" indent="0">
              <a:buNone/>
            </a:pPr>
            <a:endParaRPr lang="en-GB" sz="2000" b="1" u="sng" dirty="0"/>
          </a:p>
          <a:p>
            <a:r>
              <a:rPr lang="en-GB" sz="2000" b="1" u="sng" dirty="0"/>
              <a:t>1. Presence of IgM antibodies:</a:t>
            </a:r>
          </a:p>
          <a:p>
            <a:pPr marL="457200" indent="-457200">
              <a:buAutoNum type="arabicPeriod"/>
            </a:pPr>
            <a:endParaRPr lang="en-GB" sz="2000" b="1" u="sng" dirty="0"/>
          </a:p>
          <a:p>
            <a:pPr marL="285750" indent="-285750">
              <a:buFont typeface="Arial" panose="020B0604020202020204" pitchFamily="34" charset="0"/>
              <a:buChar char="•"/>
            </a:pPr>
            <a:r>
              <a:rPr lang="en-GB" sz="1800" dirty="0"/>
              <a:t>Indicates recent or current Infection.</a:t>
            </a:r>
          </a:p>
          <a:p>
            <a:pPr marL="285750" indent="-285750">
              <a:buFont typeface="Arial" panose="020B0604020202020204" pitchFamily="34" charset="0"/>
              <a:buChar char="•"/>
            </a:pPr>
            <a:r>
              <a:rPr lang="en-GB" sz="1800" dirty="0"/>
              <a:t>IgM - first antibody to appear.</a:t>
            </a:r>
          </a:p>
          <a:p>
            <a:pPr marL="0" indent="0">
              <a:buNone/>
            </a:pPr>
            <a:endParaRPr lang="en-GB" sz="1800" dirty="0"/>
          </a:p>
          <a:p>
            <a:pPr marL="0" indent="0">
              <a:buNone/>
            </a:pPr>
            <a:endParaRPr lang="en-GB" sz="1800" dirty="0"/>
          </a:p>
          <a:p>
            <a:pPr marL="0" indent="0">
              <a:buNone/>
            </a:pPr>
            <a:r>
              <a:rPr lang="en-GB" sz="2000" b="1" u="sng" dirty="0"/>
              <a:t>2. Presence of IgG antibodies:</a:t>
            </a:r>
          </a:p>
          <a:p>
            <a:pPr marL="0" indent="0">
              <a:buNone/>
            </a:pPr>
            <a:endParaRPr lang="en-GB" sz="2000" b="1" u="sng" dirty="0"/>
          </a:p>
          <a:p>
            <a:pPr marL="285750" indent="-285750">
              <a:buFont typeface="Arial" panose="020B0604020202020204" pitchFamily="34" charset="0"/>
              <a:buChar char="•"/>
            </a:pPr>
            <a:r>
              <a:rPr lang="en-GB" sz="1800" dirty="0"/>
              <a:t>Indicates past infection</a:t>
            </a:r>
          </a:p>
          <a:p>
            <a:pPr marL="285750" indent="-285750">
              <a:buFont typeface="Arial" panose="020B0604020202020204" pitchFamily="34" charset="0"/>
              <a:buChar char="•"/>
            </a:pPr>
            <a:r>
              <a:rPr lang="en-GB" sz="1800" dirty="0"/>
              <a:t>IgG-long-term antibody.</a:t>
            </a:r>
          </a:p>
          <a:p>
            <a:pPr marL="0" indent="0">
              <a:buNone/>
            </a:pPr>
            <a:endParaRPr lang="en-GB" sz="1800" dirty="0"/>
          </a:p>
        </p:txBody>
      </p:sp>
      <p:pic>
        <p:nvPicPr>
          <p:cNvPr id="5" name="Picture 4">
            <a:extLst>
              <a:ext uri="{FF2B5EF4-FFF2-40B4-BE49-F238E27FC236}">
                <a16:creationId xmlns:a16="http://schemas.microsoft.com/office/drawing/2014/main" id="{0B4F783B-7996-2DB4-A5EA-EAEF3E85E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4213401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3C417C7-F46A-E62E-90D7-70DA089C2480}"/>
              </a:ext>
            </a:extLst>
          </p:cNvPr>
          <p:cNvSpPr>
            <a:spLocks noGrp="1"/>
          </p:cNvSpPr>
          <p:nvPr>
            <p:ph type="body"/>
          </p:nvPr>
        </p:nvSpPr>
        <p:spPr>
          <a:xfrm>
            <a:off x="457200" y="622169"/>
            <a:ext cx="7167809" cy="3789575"/>
          </a:xfrm>
        </p:spPr>
        <p:txBody>
          <a:bodyPr>
            <a:normAutofit/>
          </a:bodyPr>
          <a:lstStyle/>
          <a:p>
            <a:pPr marL="0" indent="0">
              <a:buNone/>
            </a:pPr>
            <a:r>
              <a:rPr lang="en-GB" sz="2600" b="1" u="sng" dirty="0"/>
              <a:t>3. Positive antigen detection:</a:t>
            </a:r>
          </a:p>
          <a:p>
            <a:pPr marL="0" indent="0">
              <a:buNone/>
            </a:pPr>
            <a:endParaRPr lang="en-GB" sz="2600" b="1" u="sng" dirty="0"/>
          </a:p>
          <a:p>
            <a:pPr marL="342900" indent="-342900" algn="just">
              <a:buFont typeface="Arial" panose="020B0604020202020204" pitchFamily="34" charset="0"/>
              <a:buChar char="•"/>
            </a:pPr>
            <a:r>
              <a:rPr lang="en-GB" sz="2200" dirty="0"/>
              <a:t>It means the pathogens antigen present, indicating Current  infection.</a:t>
            </a:r>
          </a:p>
          <a:p>
            <a:pPr marL="0" indent="0">
              <a:buNone/>
            </a:pPr>
            <a:endParaRPr lang="en-GB" sz="2600" b="1" u="sng" dirty="0"/>
          </a:p>
          <a:p>
            <a:pPr marL="0" indent="0">
              <a:buNone/>
            </a:pPr>
            <a:endParaRPr lang="en-GB" sz="2600" b="1" u="sng" dirty="0"/>
          </a:p>
          <a:p>
            <a:pPr marL="0" indent="0">
              <a:buNone/>
            </a:pPr>
            <a:r>
              <a:rPr lang="en-GB" sz="2600" b="1" u="sng" dirty="0"/>
              <a:t>4. Negative Result:</a:t>
            </a:r>
          </a:p>
          <a:p>
            <a:pPr marL="0" indent="0">
              <a:buNone/>
            </a:pPr>
            <a:endParaRPr lang="en-GB" sz="2600" b="1" u="sng" dirty="0"/>
          </a:p>
          <a:p>
            <a:pPr marL="342900" indent="-342900">
              <a:buFont typeface="Arial" panose="020B0604020202020204" pitchFamily="34" charset="0"/>
              <a:buChar char="•"/>
            </a:pPr>
            <a:r>
              <a:rPr lang="en-GB" sz="2200" dirty="0"/>
              <a:t>It means no antibodies / antigens detected.</a:t>
            </a:r>
            <a:endParaRPr lang="en-AE" sz="2200" dirty="0"/>
          </a:p>
        </p:txBody>
      </p:sp>
      <p:pic>
        <p:nvPicPr>
          <p:cNvPr id="4" name="Picture 3">
            <a:extLst>
              <a:ext uri="{FF2B5EF4-FFF2-40B4-BE49-F238E27FC236}">
                <a16:creationId xmlns:a16="http://schemas.microsoft.com/office/drawing/2014/main" id="{652B62E9-C393-1216-4C32-BFA714464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40247997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655482" y="73284"/>
            <a:ext cx="8115120" cy="127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700" b="1" u="none" strike="noStrike" dirty="0">
                <a:solidFill>
                  <a:schemeClr val="dk1"/>
                </a:solidFill>
                <a:effectLst/>
                <a:uFillTx/>
                <a:latin typeface="Viaoda Libre"/>
                <a:ea typeface="Viaoda Libre"/>
              </a:rPr>
              <a:t>Conclusions</a:t>
            </a:r>
            <a:endParaRPr lang="fr-FR" sz="3700" b="1" u="none" strike="noStrike" dirty="0">
              <a:solidFill>
                <a:schemeClr val="dk1"/>
              </a:solidFill>
              <a:effectLst/>
              <a:uFillTx/>
              <a:latin typeface="Arial"/>
            </a:endParaRPr>
          </a:p>
        </p:txBody>
      </p:sp>
      <p:sp>
        <p:nvSpPr>
          <p:cNvPr id="74" name="PlaceHolder 2"/>
          <p:cNvSpPr>
            <a:spLocks noGrp="1"/>
          </p:cNvSpPr>
          <p:nvPr>
            <p:ph type="subTitle"/>
          </p:nvPr>
        </p:nvSpPr>
        <p:spPr>
          <a:xfrm>
            <a:off x="655482" y="1507213"/>
            <a:ext cx="7442143" cy="3032011"/>
          </a:xfrm>
          <a:prstGeom prst="rect">
            <a:avLst/>
          </a:prstGeom>
          <a:noFill/>
          <a:ln w="0">
            <a:noFill/>
          </a:ln>
        </p:spPr>
        <p:txBody>
          <a:bodyPr lIns="91440" tIns="91440" rIns="91440" bIns="91440" anchor="t">
            <a:noAutofit/>
          </a:bodyPr>
          <a:lstStyle/>
          <a:p>
            <a:pPr algn="just">
              <a:lnSpc>
                <a:spcPct val="150000"/>
              </a:lnSpc>
              <a:tabLst>
                <a:tab pos="0" algn="l"/>
              </a:tabLst>
            </a:pPr>
            <a:r>
              <a:rPr lang="en-GB" sz="1800" dirty="0">
                <a:solidFill>
                  <a:schemeClr val="dk1"/>
                </a:solidFill>
                <a:latin typeface="Albert Sans"/>
                <a:ea typeface="Albert Sans"/>
              </a:rPr>
              <a:t>S. aureus is an germ that can cause many types of infections, including skin problem &amp; Serious Condition like </a:t>
            </a:r>
            <a:r>
              <a:rPr lang="en-GB" sz="1800" dirty="0" err="1">
                <a:solidFill>
                  <a:schemeClr val="dk1"/>
                </a:solidFill>
                <a:latin typeface="Albert Sans"/>
                <a:ea typeface="Albert Sans"/>
              </a:rPr>
              <a:t>ssss</a:t>
            </a:r>
            <a:r>
              <a:rPr lang="en-GB" sz="1800" dirty="0">
                <a:solidFill>
                  <a:schemeClr val="dk1"/>
                </a:solidFill>
                <a:latin typeface="Albert Sans"/>
                <a:ea typeface="Albert Sans"/>
              </a:rPr>
              <a:t> during menstrual &amp; Non-menstrual times. To confirm the infection, biochemical &amp; antibiotic sensitivity tests are perform to choose the right medicine. Serological tests are not very helpful for diagnosis but PCR is a modern test that quickly &amp; accurately detects the bacteria . Early and correct diagnosis  helps in giving proper treatment and  preventing Complications.</a:t>
            </a:r>
            <a:endParaRPr lang="en-US" sz="1800" b="0" u="none" strike="noStrike" dirty="0">
              <a:solidFill>
                <a:srgbClr val="000000"/>
              </a:solidFill>
              <a:effectLst/>
              <a:uFillTx/>
              <a:latin typeface="OpenSymbol"/>
            </a:endParaRPr>
          </a:p>
        </p:txBody>
      </p:sp>
      <p:pic>
        <p:nvPicPr>
          <p:cNvPr id="2" name="Picture 1">
            <a:extLst>
              <a:ext uri="{FF2B5EF4-FFF2-40B4-BE49-F238E27FC236}">
                <a16:creationId xmlns:a16="http://schemas.microsoft.com/office/drawing/2014/main" id="{8AB51C16-A187-5560-D4E7-5890ACB60E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6277" y="179110"/>
            <a:ext cx="944481" cy="6504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ACC623-5507-3056-AE3D-0A6632D2248F}"/>
              </a:ext>
            </a:extLst>
          </p:cNvPr>
          <p:cNvSpPr>
            <a:spLocks noGrp="1"/>
          </p:cNvSpPr>
          <p:nvPr>
            <p:ph type="body"/>
          </p:nvPr>
        </p:nvSpPr>
        <p:spPr>
          <a:xfrm>
            <a:off x="457200" y="245096"/>
            <a:ext cx="8229240" cy="4562573"/>
          </a:xfrm>
        </p:spPr>
        <p:txBody>
          <a:bodyPr>
            <a:normAutofit/>
          </a:bodyPr>
          <a:lstStyle/>
          <a:p>
            <a:pPr marL="0" indent="0" algn="just">
              <a:buNone/>
            </a:pPr>
            <a:r>
              <a:rPr lang="en-GB" sz="1900" b="1" dirty="0"/>
              <a:t>1.Which medium turns yellow due to mannitol fermentation by Staphylococcus aureus?</a:t>
            </a:r>
          </a:p>
          <a:p>
            <a:pPr marL="0" indent="0">
              <a:buNone/>
            </a:pPr>
            <a:endParaRPr lang="en-GB" sz="2200" b="1" dirty="0"/>
          </a:p>
          <a:p>
            <a:pPr marL="457200" indent="-457200">
              <a:buAutoNum type="alphaUcPeriod"/>
            </a:pPr>
            <a:r>
              <a:rPr lang="en-GB" sz="1700" dirty="0"/>
              <a:t>Blood agar</a:t>
            </a:r>
          </a:p>
          <a:p>
            <a:pPr marL="457200" indent="-457200">
              <a:buAutoNum type="alphaUcPeriod"/>
            </a:pPr>
            <a:r>
              <a:rPr lang="en-GB" sz="1700" dirty="0"/>
              <a:t>Nutrient agar</a:t>
            </a:r>
          </a:p>
          <a:p>
            <a:pPr marL="457200" indent="-457200">
              <a:buAutoNum type="alphaUcPeriod"/>
            </a:pPr>
            <a:r>
              <a:rPr lang="en-GB" sz="1700" dirty="0"/>
              <a:t>Mannitol salt agar</a:t>
            </a:r>
          </a:p>
          <a:p>
            <a:pPr marL="342900" indent="-342900">
              <a:buAutoNum type="alphaUcPeriod" startAt="4"/>
            </a:pPr>
            <a:r>
              <a:rPr lang="en-GB" sz="1700" dirty="0"/>
              <a:t> Chocolate agar</a:t>
            </a:r>
          </a:p>
          <a:p>
            <a:pPr marL="342900" indent="-342900">
              <a:buAutoNum type="alphaUcPeriod" startAt="4"/>
            </a:pPr>
            <a:endParaRPr lang="en-GB" sz="1800" dirty="0"/>
          </a:p>
          <a:p>
            <a:pPr marL="0" indent="0" algn="just">
              <a:buNone/>
            </a:pPr>
            <a:r>
              <a:rPr lang="en-GB" sz="1900" b="1" dirty="0"/>
              <a:t>2.Which antibiotic sensitivity test is described as quantitative and time-consuming?</a:t>
            </a:r>
          </a:p>
          <a:p>
            <a:pPr marL="0" indent="0">
              <a:buNone/>
            </a:pPr>
            <a:endParaRPr lang="en-GB" sz="1900" b="1" dirty="0"/>
          </a:p>
          <a:p>
            <a:pPr marL="342900" indent="-342900">
              <a:buAutoNum type="alphaUcPeriod"/>
            </a:pPr>
            <a:r>
              <a:rPr lang="en-GB" sz="1600" dirty="0"/>
              <a:t>Disc</a:t>
            </a:r>
          </a:p>
          <a:p>
            <a:pPr marL="0" indent="0">
              <a:buNone/>
            </a:pPr>
            <a:r>
              <a:rPr lang="en-GB" sz="1600" dirty="0"/>
              <a:t>B. Serial</a:t>
            </a:r>
          </a:p>
          <a:p>
            <a:pPr marL="0" indent="0">
              <a:buNone/>
            </a:pPr>
            <a:r>
              <a:rPr lang="en-GB" sz="1600" dirty="0"/>
              <a:t>C. Kirby</a:t>
            </a:r>
          </a:p>
          <a:p>
            <a:pPr marL="0" indent="0">
              <a:buNone/>
            </a:pPr>
            <a:r>
              <a:rPr lang="en-GB" sz="1600" dirty="0"/>
              <a:t>D. Rapid</a:t>
            </a:r>
            <a:endParaRPr lang="en-AE" sz="1600" dirty="0"/>
          </a:p>
        </p:txBody>
      </p:sp>
      <p:pic>
        <p:nvPicPr>
          <p:cNvPr id="4" name="Picture 3">
            <a:extLst>
              <a:ext uri="{FF2B5EF4-FFF2-40B4-BE49-F238E27FC236}">
                <a16:creationId xmlns:a16="http://schemas.microsoft.com/office/drawing/2014/main" id="{6F24F0A6-1764-A3FF-37FD-C10BB3F384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10401335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64D32BB-51D8-803C-6B98-518527443F84}"/>
              </a:ext>
            </a:extLst>
          </p:cNvPr>
          <p:cNvSpPr>
            <a:spLocks noGrp="1"/>
          </p:cNvSpPr>
          <p:nvPr>
            <p:ph type="body"/>
          </p:nvPr>
        </p:nvSpPr>
        <p:spPr>
          <a:xfrm>
            <a:off x="457200" y="461913"/>
            <a:ext cx="8229240" cy="2960017"/>
          </a:xfrm>
        </p:spPr>
        <p:txBody>
          <a:bodyPr>
            <a:normAutofit/>
          </a:bodyPr>
          <a:lstStyle/>
          <a:p>
            <a:pPr marL="0" indent="0">
              <a:buNone/>
            </a:pPr>
            <a:endParaRPr lang="en-GB" sz="2000" b="1" dirty="0"/>
          </a:p>
          <a:p>
            <a:pPr marL="0" indent="0">
              <a:buNone/>
            </a:pPr>
            <a:endParaRPr lang="en-GB" sz="2000" b="1" dirty="0"/>
          </a:p>
          <a:p>
            <a:pPr marL="0" indent="0">
              <a:buNone/>
            </a:pPr>
            <a:r>
              <a:rPr lang="en-GB" sz="2000" b="1" dirty="0"/>
              <a:t>3.why are serological tests considered less significant for routine diagnosis?</a:t>
            </a:r>
          </a:p>
          <a:p>
            <a:pPr marL="0" indent="0">
              <a:buNone/>
            </a:pPr>
            <a:endParaRPr lang="en-GB" sz="2000" b="1" dirty="0"/>
          </a:p>
          <a:p>
            <a:pPr marL="0" indent="0">
              <a:buNone/>
            </a:pPr>
            <a:r>
              <a:rPr lang="en-GB" sz="1600" dirty="0"/>
              <a:t>A. Because they require highly expensive equipment.</a:t>
            </a:r>
          </a:p>
          <a:p>
            <a:pPr marL="0" indent="0">
              <a:buNone/>
            </a:pPr>
            <a:r>
              <a:rPr lang="en-GB" sz="1600" dirty="0"/>
              <a:t>B. Because molecular methods like PCR are more effective for diagnostic purposes.</a:t>
            </a:r>
          </a:p>
          <a:p>
            <a:pPr marL="0" indent="0">
              <a:buNone/>
            </a:pPr>
            <a:r>
              <a:rPr lang="en-GB" sz="1600" dirty="0"/>
              <a:t>C. Because they cannot detect antibodies or antigens.</a:t>
            </a:r>
          </a:p>
          <a:p>
            <a:pPr marL="0" indent="0">
              <a:buNone/>
            </a:pPr>
            <a:r>
              <a:rPr lang="en-GB" sz="1600" dirty="0"/>
              <a:t>D. Because they are only useful for diagnosing acute infections.</a:t>
            </a:r>
            <a:endParaRPr lang="en-AE" sz="1600" dirty="0"/>
          </a:p>
        </p:txBody>
      </p:sp>
      <p:pic>
        <p:nvPicPr>
          <p:cNvPr id="4" name="Picture 3">
            <a:extLst>
              <a:ext uri="{FF2B5EF4-FFF2-40B4-BE49-F238E27FC236}">
                <a16:creationId xmlns:a16="http://schemas.microsoft.com/office/drawing/2014/main" id="{686ABEEA-2045-2AF1-284F-24D2BB872B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5009" y="122549"/>
            <a:ext cx="1286686" cy="886120"/>
          </a:xfrm>
          <a:prstGeom prst="rect">
            <a:avLst/>
          </a:prstGeom>
        </p:spPr>
      </p:pic>
    </p:spTree>
    <p:extLst>
      <p:ext uri="{BB962C8B-B14F-4D97-AF65-F5344CB8AC3E}">
        <p14:creationId xmlns:p14="http://schemas.microsoft.com/office/powerpoint/2010/main" val="2902344364"/>
      </p:ext>
    </p:extLst>
  </p:cSld>
  <p:clrMapOvr>
    <a:masterClrMapping/>
  </p:clrMapOvr>
</p:sld>
</file>

<file path=ppt/theme/theme1.xml><?xml version="1.0" encoding="utf-8"?>
<a:theme xmlns:a="http://schemas.openxmlformats.org/drawingml/2006/main" name="Minimal Gradient by Slidesgo">
  <a:themeElements>
    <a:clrScheme name="Simple Light">
      <a:dk1>
        <a:srgbClr val="000000"/>
      </a:dk1>
      <a:lt1>
        <a:srgbClr val="FFFBF8"/>
      </a:lt1>
      <a:dk2>
        <a:srgbClr val="000000"/>
      </a:dk2>
      <a:lt2>
        <a:srgbClr val="000000"/>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161</TotalTime>
  <Words>1288</Words>
  <Application>Microsoft Office PowerPoint</Application>
  <PresentationFormat>On-screen Show (16:9)</PresentationFormat>
  <Paragraphs>171</Paragraphs>
  <Slides>21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21</vt:i4>
      </vt:variant>
    </vt:vector>
  </HeadingPairs>
  <TitlesOfParts>
    <vt:vector size="29" baseType="lpstr">
      <vt:lpstr>Albert Sans</vt:lpstr>
      <vt:lpstr>Arial</vt:lpstr>
      <vt:lpstr>OpenSymbol</vt:lpstr>
      <vt:lpstr>Symbol</vt:lpstr>
      <vt:lpstr>Viaoda Libre</vt:lpstr>
      <vt:lpstr>Wingdings</vt:lpstr>
      <vt:lpstr>Minimal Gradient by Slidesgo</vt:lpstr>
      <vt:lpstr>Slidesgo Final Pages</vt:lpstr>
      <vt:lpstr>Staphylococcus aureus</vt:lpstr>
      <vt:lpstr>Introduction</vt:lpstr>
      <vt:lpstr>Definition</vt:lpstr>
      <vt:lpstr>Clinical Symptoms of S. aureus Infection:</vt:lpstr>
      <vt:lpstr>PowerPoint Presentation</vt:lpstr>
      <vt:lpstr>PowerPoint Presentation</vt:lpstr>
      <vt:lpstr> Lab Diagnosis: </vt:lpstr>
      <vt:lpstr>PowerPoint Presentation</vt:lpstr>
      <vt:lpstr>PowerPoint Presentation</vt:lpstr>
      <vt:lpstr>Biochemical test</vt:lpstr>
      <vt:lpstr>PowerPoint Presentation</vt:lpstr>
      <vt:lpstr>PowerPoint Presentation</vt:lpstr>
      <vt:lpstr>PowerPoint Presentation</vt:lpstr>
      <vt:lpstr>Interpretation of Antibiotic Sensitivity Test </vt:lpstr>
      <vt:lpstr>PowerPoint Presentation</vt:lpstr>
      <vt:lpstr>PowerPoint Presentation</vt:lpstr>
      <vt:lpstr>Result Interpretation </vt:lpstr>
      <vt:lpstr>PowerPoint Presentation</vt:lpstr>
      <vt:lpstr>Conclusions</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tejas kumar</dc:creator>
  <cp:lastModifiedBy>tejas kumar</cp:lastModifiedBy>
  <cp:revision>7</cp:revision>
  <dcterms:modified xsi:type="dcterms:W3CDTF">2025-11-26T18:23:15Z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2025-11-25T17:00:57Z</dcterms:created>
  <dc:creator>Unknown Creator</dc:creator>
  <dc:description/>
  <dc:language>en-US</dc:language>
  <cp:lastModifiedBy>Unknown Creator</cp:lastModifiedBy>
  <dcterms:modified xsi:type="dcterms:W3CDTF">2025-11-25T17:00:57Z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